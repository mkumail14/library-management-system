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pperplate Gothic 29 BC Bold" charset="1" panose="020E0604020206020404"/>
      <p:regular r:id="rId16"/>
    </p:embeddedFont>
    <p:embeddedFont>
      <p:font typeface="Playfair Display Bold" charset="1" panose="00000000000000000000"/>
      <p:regular r:id="rId17"/>
    </p:embeddedFont>
    <p:embeddedFont>
      <p:font typeface="Work Sans Bold" charset="1" panose="00000000000000000000"/>
      <p:regular r:id="rId18"/>
    </p:embeddedFont>
    <p:embeddedFont>
      <p:font typeface="Work Sans" charset="1" panose="00000000000000000000"/>
      <p:regular r:id="rId19"/>
    </p:embeddedFont>
    <p:embeddedFont>
      <p:font typeface="Poppins Bold" charset="1" panose="00000800000000000000"/>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56453" y="-3631583"/>
            <a:ext cx="21600303" cy="6210631"/>
            <a:chOff x="0" y="0"/>
            <a:chExt cx="4816593" cy="1384892"/>
          </a:xfrm>
        </p:grpSpPr>
        <p:sp>
          <p:nvSpPr>
            <p:cNvPr name="Freeform 3" id="3"/>
            <p:cNvSpPr/>
            <p:nvPr/>
          </p:nvSpPr>
          <p:spPr>
            <a:xfrm flipH="false" flipV="false" rot="0">
              <a:off x="0" y="0"/>
              <a:ext cx="4816592" cy="1384892"/>
            </a:xfrm>
            <a:custGeom>
              <a:avLst/>
              <a:gdLst/>
              <a:ahLst/>
              <a:cxnLst/>
              <a:rect r="r" b="b" t="t" l="l"/>
              <a:pathLst>
                <a:path h="1384892" w="4816592">
                  <a:moveTo>
                    <a:pt x="0" y="0"/>
                  </a:moveTo>
                  <a:lnTo>
                    <a:pt x="4816592" y="0"/>
                  </a:lnTo>
                  <a:lnTo>
                    <a:pt x="4816592" y="1384892"/>
                  </a:lnTo>
                  <a:lnTo>
                    <a:pt x="0" y="1384892"/>
                  </a:lnTo>
                  <a:close/>
                </a:path>
              </a:pathLst>
            </a:custGeom>
            <a:solidFill>
              <a:srgbClr val="5B2501"/>
            </a:solidFill>
          </p:spPr>
        </p:sp>
        <p:sp>
          <p:nvSpPr>
            <p:cNvPr name="TextBox 4" id="4"/>
            <p:cNvSpPr txBox="true"/>
            <p:nvPr/>
          </p:nvSpPr>
          <p:spPr>
            <a:xfrm>
              <a:off x="0" y="-38100"/>
              <a:ext cx="4816593" cy="14229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289412" y="8017961"/>
            <a:ext cx="4998588" cy="2269039"/>
            <a:chOff x="0" y="0"/>
            <a:chExt cx="1316500" cy="597607"/>
          </a:xfrm>
        </p:grpSpPr>
        <p:sp>
          <p:nvSpPr>
            <p:cNvPr name="Freeform 6" id="6"/>
            <p:cNvSpPr/>
            <p:nvPr/>
          </p:nvSpPr>
          <p:spPr>
            <a:xfrm flipH="false" flipV="false" rot="0">
              <a:off x="0" y="0"/>
              <a:ext cx="1316500" cy="597607"/>
            </a:xfrm>
            <a:custGeom>
              <a:avLst/>
              <a:gdLst/>
              <a:ahLst/>
              <a:cxnLst/>
              <a:rect r="r" b="b" t="t" l="l"/>
              <a:pathLst>
                <a:path h="597607" w="1316500">
                  <a:moveTo>
                    <a:pt x="154882" y="0"/>
                  </a:moveTo>
                  <a:lnTo>
                    <a:pt x="1161618" y="0"/>
                  </a:lnTo>
                  <a:cubicBezTo>
                    <a:pt x="1247157" y="0"/>
                    <a:pt x="1316500" y="69343"/>
                    <a:pt x="1316500" y="154882"/>
                  </a:cubicBezTo>
                  <a:lnTo>
                    <a:pt x="1316500" y="442725"/>
                  </a:lnTo>
                  <a:cubicBezTo>
                    <a:pt x="1316500" y="528264"/>
                    <a:pt x="1247157" y="597607"/>
                    <a:pt x="1161618" y="597607"/>
                  </a:cubicBezTo>
                  <a:lnTo>
                    <a:pt x="154882" y="597607"/>
                  </a:lnTo>
                  <a:cubicBezTo>
                    <a:pt x="69343" y="597607"/>
                    <a:pt x="0" y="528264"/>
                    <a:pt x="0" y="442725"/>
                  </a:cubicBezTo>
                  <a:lnTo>
                    <a:pt x="0" y="154882"/>
                  </a:lnTo>
                  <a:cubicBezTo>
                    <a:pt x="0" y="69343"/>
                    <a:pt x="69343" y="0"/>
                    <a:pt x="154882" y="0"/>
                  </a:cubicBezTo>
                  <a:close/>
                </a:path>
              </a:pathLst>
            </a:custGeom>
            <a:solidFill>
              <a:srgbClr val="FFFFFF"/>
            </a:solidFill>
          </p:spPr>
        </p:sp>
        <p:sp>
          <p:nvSpPr>
            <p:cNvPr name="TextBox 7" id="7"/>
            <p:cNvSpPr txBox="true"/>
            <p:nvPr/>
          </p:nvSpPr>
          <p:spPr>
            <a:xfrm>
              <a:off x="0" y="-142875"/>
              <a:ext cx="1316500" cy="740482"/>
            </a:xfrm>
            <a:prstGeom prst="rect">
              <a:avLst/>
            </a:prstGeom>
          </p:spPr>
          <p:txBody>
            <a:bodyPr anchor="ctr" rtlCol="false" tIns="50800" lIns="50800" bIns="50800" rIns="50800"/>
            <a:lstStyle/>
            <a:p>
              <a:pPr algn="l">
                <a:lnSpc>
                  <a:spcPts val="5040"/>
                </a:lnSpc>
              </a:pPr>
              <a:r>
                <a:rPr lang="en-US" sz="3600">
                  <a:solidFill>
                    <a:srgbClr val="5E3516"/>
                  </a:solidFill>
                  <a:latin typeface="Copperplate Gothic 29 BC Bold"/>
                  <a:ea typeface="Copperplate Gothic 29 BC Bold"/>
                  <a:cs typeface="Copperplate Gothic 29 BC Bold"/>
                  <a:sym typeface="Copperplate Gothic 29 BC Bold"/>
                </a:rPr>
                <a:t>Group Members:</a:t>
              </a:r>
            </a:p>
            <a:p>
              <a:pPr algn="l">
                <a:lnSpc>
                  <a:spcPts val="2659"/>
                </a:lnSpc>
              </a:pPr>
              <a:r>
                <a:rPr lang="en-US" sz="1899">
                  <a:solidFill>
                    <a:srgbClr val="5E3516"/>
                  </a:solidFill>
                  <a:latin typeface="Copperplate Gothic 29 BC Bold"/>
                  <a:ea typeface="Copperplate Gothic 29 BC Bold"/>
                  <a:cs typeface="Copperplate Gothic 29 BC Bold"/>
                  <a:sym typeface="Copperplate Gothic 29 BC Bold"/>
                </a:rPr>
                <a:t>1. LAVEEZA KHAN NIAZI - EB25210106041</a:t>
              </a:r>
            </a:p>
            <a:p>
              <a:pPr algn="l">
                <a:lnSpc>
                  <a:spcPts val="2659"/>
                </a:lnSpc>
              </a:pPr>
              <a:r>
                <a:rPr lang="en-US" sz="1899">
                  <a:solidFill>
                    <a:srgbClr val="5E3516"/>
                  </a:solidFill>
                  <a:latin typeface="Copperplate Gothic 29 BC Bold"/>
                  <a:ea typeface="Copperplate Gothic 29 BC Bold"/>
                  <a:cs typeface="Copperplate Gothic 29 BC Bold"/>
                  <a:sym typeface="Copperplate Gothic 29 BC Bold"/>
                </a:rPr>
                <a:t>2. SHIZA JAMAL - EB25210106114</a:t>
              </a:r>
            </a:p>
            <a:p>
              <a:pPr algn="l">
                <a:lnSpc>
                  <a:spcPts val="2659"/>
                </a:lnSpc>
              </a:pPr>
              <a:r>
                <a:rPr lang="en-US" sz="1899">
                  <a:solidFill>
                    <a:srgbClr val="5E3516"/>
                  </a:solidFill>
                  <a:latin typeface="Copperplate Gothic 29 BC Bold"/>
                  <a:ea typeface="Copperplate Gothic 29 BC Bold"/>
                  <a:cs typeface="Copperplate Gothic 29 BC Bold"/>
                  <a:sym typeface="Copperplate Gothic 29 BC Bold"/>
                </a:rPr>
                <a:t>3. HIBAH ZEHRA - EB2510106034</a:t>
              </a:r>
            </a:p>
            <a:p>
              <a:pPr algn="l">
                <a:lnSpc>
                  <a:spcPts val="2659"/>
                </a:lnSpc>
              </a:pPr>
              <a:r>
                <a:rPr lang="en-US" sz="1899">
                  <a:solidFill>
                    <a:srgbClr val="5E3516"/>
                  </a:solidFill>
                  <a:latin typeface="Copperplate Gothic 29 BC Bold"/>
                  <a:ea typeface="Copperplate Gothic 29 BC Bold"/>
                  <a:cs typeface="Copperplate Gothic 29 BC Bold"/>
                  <a:sym typeface="Copperplate Gothic 29 BC Bold"/>
                </a:rPr>
                <a:t>4. GUL E MAHEEN -EB2510106029 </a:t>
              </a:r>
            </a:p>
          </p:txBody>
        </p:sp>
      </p:grpSp>
      <p:grpSp>
        <p:nvGrpSpPr>
          <p:cNvPr name="Group 8" id="8"/>
          <p:cNvGrpSpPr/>
          <p:nvPr/>
        </p:nvGrpSpPr>
        <p:grpSpPr>
          <a:xfrm rot="0">
            <a:off x="-1048927" y="1028700"/>
            <a:ext cx="2746031" cy="6860864"/>
            <a:chOff x="0" y="0"/>
            <a:chExt cx="723235" cy="1806977"/>
          </a:xfrm>
        </p:grpSpPr>
        <p:sp>
          <p:nvSpPr>
            <p:cNvPr name="Freeform 9" id="9"/>
            <p:cNvSpPr/>
            <p:nvPr/>
          </p:nvSpPr>
          <p:spPr>
            <a:xfrm flipH="false" flipV="false" rot="0">
              <a:off x="0" y="0"/>
              <a:ext cx="723235" cy="1806977"/>
            </a:xfrm>
            <a:custGeom>
              <a:avLst/>
              <a:gdLst/>
              <a:ahLst/>
              <a:cxnLst/>
              <a:rect r="r" b="b" t="t" l="l"/>
              <a:pathLst>
                <a:path h="1806977" w="723235">
                  <a:moveTo>
                    <a:pt x="281931" y="0"/>
                  </a:moveTo>
                  <a:lnTo>
                    <a:pt x="441303" y="0"/>
                  </a:lnTo>
                  <a:cubicBezTo>
                    <a:pt x="516076" y="0"/>
                    <a:pt x="587786" y="29703"/>
                    <a:pt x="640659" y="82576"/>
                  </a:cubicBezTo>
                  <a:cubicBezTo>
                    <a:pt x="693531" y="135448"/>
                    <a:pt x="723235" y="207158"/>
                    <a:pt x="723235" y="281931"/>
                  </a:cubicBezTo>
                  <a:lnTo>
                    <a:pt x="723235" y="1525045"/>
                  </a:lnTo>
                  <a:cubicBezTo>
                    <a:pt x="723235" y="1680752"/>
                    <a:pt x="597010" y="1806977"/>
                    <a:pt x="441303" y="1806977"/>
                  </a:cubicBezTo>
                  <a:lnTo>
                    <a:pt x="281931" y="1806977"/>
                  </a:lnTo>
                  <a:cubicBezTo>
                    <a:pt x="126225" y="1806977"/>
                    <a:pt x="0" y="1680752"/>
                    <a:pt x="0" y="1525045"/>
                  </a:cubicBezTo>
                  <a:lnTo>
                    <a:pt x="0" y="281931"/>
                  </a:lnTo>
                  <a:cubicBezTo>
                    <a:pt x="0" y="207158"/>
                    <a:pt x="29703" y="135448"/>
                    <a:pt x="82576" y="82576"/>
                  </a:cubicBezTo>
                  <a:cubicBezTo>
                    <a:pt x="135448" y="29703"/>
                    <a:pt x="207158" y="0"/>
                    <a:pt x="281931" y="0"/>
                  </a:cubicBezTo>
                  <a:close/>
                </a:path>
              </a:pathLst>
            </a:custGeom>
            <a:solidFill>
              <a:srgbClr val="FFFFFF"/>
            </a:solidFill>
          </p:spPr>
        </p:sp>
        <p:sp>
          <p:nvSpPr>
            <p:cNvPr name="TextBox 10" id="10"/>
            <p:cNvSpPr txBox="true"/>
            <p:nvPr/>
          </p:nvSpPr>
          <p:spPr>
            <a:xfrm>
              <a:off x="0" y="-38100"/>
              <a:ext cx="723235" cy="184507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52747" y="2697174"/>
            <a:ext cx="15947552" cy="3622039"/>
          </a:xfrm>
          <a:prstGeom prst="rect">
            <a:avLst/>
          </a:prstGeom>
        </p:spPr>
        <p:txBody>
          <a:bodyPr anchor="t" rtlCol="false" tIns="0" lIns="0" bIns="0" rIns="0">
            <a:spAutoFit/>
          </a:bodyPr>
          <a:lstStyle/>
          <a:p>
            <a:pPr algn="l">
              <a:lnSpc>
                <a:spcPts val="14560"/>
              </a:lnSpc>
              <a:spcBef>
                <a:spcPct val="0"/>
              </a:spcBef>
            </a:pPr>
            <a:r>
              <a:rPr lang="en-US" b="true" sz="10400">
                <a:solidFill>
                  <a:srgbClr val="5B2501"/>
                </a:solidFill>
                <a:latin typeface="Playfair Display Bold"/>
                <a:ea typeface="Playfair Display Bold"/>
                <a:cs typeface="Playfair Display Bold"/>
                <a:sym typeface="Playfair Display Bold"/>
              </a:rPr>
              <a:t>LIB</a:t>
            </a:r>
            <a:r>
              <a:rPr lang="en-US" b="true" sz="10400">
                <a:solidFill>
                  <a:srgbClr val="5B2501"/>
                </a:solidFill>
                <a:latin typeface="Playfair Display Bold"/>
                <a:ea typeface="Playfair Display Bold"/>
                <a:cs typeface="Playfair Display Bold"/>
                <a:sym typeface="Playfair Display Bold"/>
              </a:rPr>
              <a:t>RARY MANAGEMENT SYSTEM</a:t>
            </a:r>
          </a:p>
        </p:txBody>
      </p:sp>
      <p:sp>
        <p:nvSpPr>
          <p:cNvPr name="TextBox 13" id="13"/>
          <p:cNvSpPr txBox="true"/>
          <p:nvPr/>
        </p:nvSpPr>
        <p:spPr>
          <a:xfrm rot="0">
            <a:off x="8207564" y="5529400"/>
            <a:ext cx="2153205" cy="448883"/>
          </a:xfrm>
          <a:prstGeom prst="rect">
            <a:avLst/>
          </a:prstGeom>
        </p:spPr>
        <p:txBody>
          <a:bodyPr anchor="t" rtlCol="false" tIns="0" lIns="0" bIns="0" rIns="0">
            <a:spAutoFit/>
          </a:bodyPr>
          <a:lstStyle/>
          <a:p>
            <a:pPr algn="ctr">
              <a:lnSpc>
                <a:spcPts val="3654"/>
              </a:lnSpc>
              <a:spcBef>
                <a:spcPct val="0"/>
              </a:spcBef>
            </a:pPr>
            <a:r>
              <a:rPr lang="en-US" b="true" sz="2610">
                <a:solidFill>
                  <a:srgbClr val="FFFFFF"/>
                </a:solidFill>
                <a:latin typeface="Work Sans Bold"/>
                <a:ea typeface="Work Sans Bold"/>
                <a:cs typeface="Work Sans Bold"/>
                <a:sym typeface="Work Sans Bold"/>
              </a:rPr>
              <a:t>Start Slide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747019" y="521256"/>
            <a:ext cx="3770711" cy="332740"/>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Library Management System  </a:t>
            </a:r>
          </a:p>
        </p:txBody>
      </p:sp>
      <p:sp>
        <p:nvSpPr>
          <p:cNvPr name="TextBox 4" id="4"/>
          <p:cNvSpPr txBox="true"/>
          <p:nvPr/>
        </p:nvSpPr>
        <p:spPr>
          <a:xfrm rot="0">
            <a:off x="1028700" y="1401225"/>
            <a:ext cx="5307331"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Abstract</a:t>
            </a:r>
          </a:p>
        </p:txBody>
      </p:sp>
      <p:sp>
        <p:nvSpPr>
          <p:cNvPr name="TextBox 5" id="5"/>
          <p:cNvSpPr txBox="true"/>
          <p:nvPr/>
        </p:nvSpPr>
        <p:spPr>
          <a:xfrm rot="0">
            <a:off x="1028700" y="2868613"/>
            <a:ext cx="16097682" cy="3352377"/>
          </a:xfrm>
          <a:prstGeom prst="rect">
            <a:avLst/>
          </a:prstGeom>
        </p:spPr>
        <p:txBody>
          <a:bodyPr anchor="t" rtlCol="false" tIns="0" lIns="0" bIns="0" rIns="0">
            <a:spAutoFit/>
          </a:bodyPr>
          <a:lstStyle/>
          <a:p>
            <a:pPr algn="l">
              <a:lnSpc>
                <a:spcPts val="3783"/>
              </a:lnSpc>
            </a:pPr>
            <a:r>
              <a:rPr lang="en-US" sz="2702">
                <a:solidFill>
                  <a:srgbClr val="000000"/>
                </a:solidFill>
                <a:latin typeface="Work Sans"/>
                <a:ea typeface="Work Sans"/>
                <a:cs typeface="Work Sans"/>
                <a:sym typeface="Work Sans"/>
              </a:rPr>
              <a:t>The "Library Management System" is a web-based application built wi</a:t>
            </a:r>
            <a:r>
              <a:rPr lang="en-US" sz="2702">
                <a:solidFill>
                  <a:srgbClr val="000000"/>
                </a:solidFill>
                <a:latin typeface="Work Sans"/>
                <a:ea typeface="Work Sans"/>
                <a:cs typeface="Work Sans"/>
                <a:sym typeface="Work Sans"/>
              </a:rPr>
              <a:t>th HTML, CSS, and JavaScript. It serves as an administrative tool for librarians to manage books, track library members, handle issuing and returning of books, and maintain a chronological log of all system activities. The application utilizes the browser's localStorage to ensure data persists even after the page is refreshed.</a:t>
            </a:r>
          </a:p>
          <a:p>
            <a:pPr algn="l">
              <a:lnSpc>
                <a:spcPts val="3783"/>
              </a:lnSpc>
            </a:pPr>
          </a:p>
          <a:p>
            <a:pPr algn="l">
              <a:lnSpc>
                <a:spcPts val="3783"/>
              </a:lnSpc>
              <a:spcBef>
                <a:spcPct val="0"/>
              </a:spcBef>
            </a:pPr>
          </a:p>
        </p:txBody>
      </p:sp>
      <p:sp>
        <p:nvSpPr>
          <p:cNvPr name="TextBox 6" id="6"/>
          <p:cNvSpPr txBox="true"/>
          <p:nvPr/>
        </p:nvSpPr>
        <p:spPr>
          <a:xfrm rot="0">
            <a:off x="8490198" y="1622786"/>
            <a:ext cx="2291615" cy="371954"/>
          </a:xfrm>
          <a:prstGeom prst="rect">
            <a:avLst/>
          </a:prstGeom>
        </p:spPr>
        <p:txBody>
          <a:bodyPr anchor="t" rtlCol="false" tIns="0" lIns="0" bIns="0" rIns="0">
            <a:spAutoFit/>
          </a:bodyPr>
          <a:lstStyle/>
          <a:p>
            <a:pPr algn="ctr">
              <a:lnSpc>
                <a:spcPts val="2982"/>
              </a:lnSpc>
              <a:spcBef>
                <a:spcPct val="0"/>
              </a:spcBef>
            </a:pPr>
            <a:r>
              <a:rPr lang="en-US" b="true" sz="2130">
                <a:solidFill>
                  <a:srgbClr val="FFFFFF"/>
                </a:solidFill>
                <a:latin typeface="Work Sans Bold"/>
                <a:ea typeface="Work Sans Bold"/>
                <a:cs typeface="Work Sans Bold"/>
                <a:sym typeface="Work Sans Bold"/>
              </a:rPr>
              <a:t>01. Facilities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83000" y="1506000"/>
            <a:ext cx="3487637" cy="831850"/>
            <a:chOff x="0" y="0"/>
            <a:chExt cx="1241905" cy="296212"/>
          </a:xfrm>
        </p:grpSpPr>
        <p:sp>
          <p:nvSpPr>
            <p:cNvPr name="Freeform 4" id="4"/>
            <p:cNvSpPr/>
            <p:nvPr/>
          </p:nvSpPr>
          <p:spPr>
            <a:xfrm flipH="false" flipV="false" rot="0">
              <a:off x="0" y="0"/>
              <a:ext cx="1241905" cy="296212"/>
            </a:xfrm>
            <a:custGeom>
              <a:avLst/>
              <a:gdLst/>
              <a:ahLst/>
              <a:cxnLst/>
              <a:rect r="r" b="b" t="t" l="l"/>
              <a:pathLst>
                <a:path h="296212" w="1241905">
                  <a:moveTo>
                    <a:pt x="148106" y="0"/>
                  </a:moveTo>
                  <a:lnTo>
                    <a:pt x="1093799" y="0"/>
                  </a:lnTo>
                  <a:cubicBezTo>
                    <a:pt x="1175596" y="0"/>
                    <a:pt x="1241905" y="66309"/>
                    <a:pt x="1241905" y="148106"/>
                  </a:cubicBezTo>
                  <a:lnTo>
                    <a:pt x="1241905" y="148106"/>
                  </a:lnTo>
                  <a:cubicBezTo>
                    <a:pt x="1241905" y="229902"/>
                    <a:pt x="1175596" y="296212"/>
                    <a:pt x="1093799" y="296212"/>
                  </a:cubicBezTo>
                  <a:lnTo>
                    <a:pt x="148106" y="296212"/>
                  </a:lnTo>
                  <a:cubicBezTo>
                    <a:pt x="66309" y="296212"/>
                    <a:pt x="0" y="229902"/>
                    <a:pt x="0" y="148106"/>
                  </a:cubicBezTo>
                  <a:lnTo>
                    <a:pt x="0" y="148106"/>
                  </a:lnTo>
                  <a:cubicBezTo>
                    <a:pt x="0" y="66309"/>
                    <a:pt x="66309" y="0"/>
                    <a:pt x="148106" y="0"/>
                  </a:cubicBezTo>
                  <a:close/>
                </a:path>
              </a:pathLst>
            </a:custGeom>
            <a:solidFill>
              <a:srgbClr val="5B2501"/>
            </a:solidFill>
            <a:ln cap="rnd">
              <a:noFill/>
              <a:prstDash val="solid"/>
              <a:round/>
            </a:ln>
          </p:spPr>
        </p:sp>
        <p:sp>
          <p:nvSpPr>
            <p:cNvPr name="TextBox 5" id="5"/>
            <p:cNvSpPr txBox="true"/>
            <p:nvPr/>
          </p:nvSpPr>
          <p:spPr>
            <a:xfrm>
              <a:off x="0" y="-57150"/>
              <a:ext cx="1241905" cy="353362"/>
            </a:xfrm>
            <a:prstGeom prst="rect">
              <a:avLst/>
            </a:prstGeom>
          </p:spPr>
          <p:txBody>
            <a:bodyPr anchor="ctr" rtlCol="false" tIns="37573" lIns="37573" bIns="37573" rIns="37573"/>
            <a:lstStyle/>
            <a:p>
              <a:pPr algn="ctr">
                <a:lnSpc>
                  <a:spcPts val="2519"/>
                </a:lnSpc>
              </a:pPr>
              <a:r>
                <a:rPr lang="en-US" b="true" sz="1799">
                  <a:solidFill>
                    <a:srgbClr val="FFFFFF"/>
                  </a:solidFill>
                  <a:latin typeface="Poppins Bold"/>
                  <a:ea typeface="Poppins Bold"/>
                  <a:cs typeface="Poppins Bold"/>
                  <a:sym typeface="Poppins Bold"/>
                </a:rPr>
                <a:t>01. Book Management</a:t>
              </a:r>
            </a:p>
          </p:txBody>
        </p:sp>
      </p:grpSp>
      <p:grpSp>
        <p:nvGrpSpPr>
          <p:cNvPr name="Group 6" id="6"/>
          <p:cNvGrpSpPr/>
          <p:nvPr/>
        </p:nvGrpSpPr>
        <p:grpSpPr>
          <a:xfrm rot="0">
            <a:off x="8283000" y="3625558"/>
            <a:ext cx="3625041" cy="863476"/>
            <a:chOff x="0" y="0"/>
            <a:chExt cx="1290833" cy="307473"/>
          </a:xfrm>
        </p:grpSpPr>
        <p:sp>
          <p:nvSpPr>
            <p:cNvPr name="Freeform 7" id="7"/>
            <p:cNvSpPr/>
            <p:nvPr/>
          </p:nvSpPr>
          <p:spPr>
            <a:xfrm flipH="false" flipV="false" rot="0">
              <a:off x="0" y="0"/>
              <a:ext cx="1290833" cy="307473"/>
            </a:xfrm>
            <a:custGeom>
              <a:avLst/>
              <a:gdLst/>
              <a:ahLst/>
              <a:cxnLst/>
              <a:rect r="r" b="b" t="t" l="l"/>
              <a:pathLst>
                <a:path h="307473" w="1290833">
                  <a:moveTo>
                    <a:pt x="153737" y="0"/>
                  </a:moveTo>
                  <a:lnTo>
                    <a:pt x="1137097" y="0"/>
                  </a:lnTo>
                  <a:cubicBezTo>
                    <a:pt x="1177870" y="0"/>
                    <a:pt x="1216974" y="16197"/>
                    <a:pt x="1245805" y="45028"/>
                  </a:cubicBezTo>
                  <a:cubicBezTo>
                    <a:pt x="1274636" y="73860"/>
                    <a:pt x="1290833" y="112963"/>
                    <a:pt x="1290833" y="153737"/>
                  </a:cubicBezTo>
                  <a:lnTo>
                    <a:pt x="1290833" y="153737"/>
                  </a:lnTo>
                  <a:cubicBezTo>
                    <a:pt x="1290833" y="238643"/>
                    <a:pt x="1222003" y="307473"/>
                    <a:pt x="1137097" y="307473"/>
                  </a:cubicBezTo>
                  <a:lnTo>
                    <a:pt x="153737" y="307473"/>
                  </a:lnTo>
                  <a:cubicBezTo>
                    <a:pt x="68830" y="307473"/>
                    <a:pt x="0" y="238643"/>
                    <a:pt x="0" y="153737"/>
                  </a:cubicBezTo>
                  <a:lnTo>
                    <a:pt x="0" y="153737"/>
                  </a:lnTo>
                  <a:cubicBezTo>
                    <a:pt x="0" y="68830"/>
                    <a:pt x="68830" y="0"/>
                    <a:pt x="153737" y="0"/>
                  </a:cubicBezTo>
                  <a:close/>
                </a:path>
              </a:pathLst>
            </a:custGeom>
            <a:solidFill>
              <a:srgbClr val="5B2501"/>
            </a:solidFill>
            <a:ln cap="rnd">
              <a:noFill/>
              <a:prstDash val="solid"/>
              <a:round/>
            </a:ln>
          </p:spPr>
        </p:sp>
        <p:sp>
          <p:nvSpPr>
            <p:cNvPr name="TextBox 8" id="8"/>
            <p:cNvSpPr txBox="true"/>
            <p:nvPr/>
          </p:nvSpPr>
          <p:spPr>
            <a:xfrm>
              <a:off x="0" y="-57150"/>
              <a:ext cx="1290833" cy="364623"/>
            </a:xfrm>
            <a:prstGeom prst="rect">
              <a:avLst/>
            </a:prstGeom>
          </p:spPr>
          <p:txBody>
            <a:bodyPr anchor="ctr" rtlCol="false" tIns="37573" lIns="37573" bIns="37573" rIns="37573"/>
            <a:lstStyle/>
            <a:p>
              <a:pPr algn="ctr">
                <a:lnSpc>
                  <a:spcPts val="2379"/>
                </a:lnSpc>
              </a:pPr>
            </a:p>
          </p:txBody>
        </p:sp>
      </p:grpSp>
      <p:grpSp>
        <p:nvGrpSpPr>
          <p:cNvPr name="Group 9" id="9"/>
          <p:cNvGrpSpPr/>
          <p:nvPr/>
        </p:nvGrpSpPr>
        <p:grpSpPr>
          <a:xfrm rot="0">
            <a:off x="1028700" y="4412812"/>
            <a:ext cx="6353467" cy="4845488"/>
            <a:chOff x="0" y="0"/>
            <a:chExt cx="984318" cy="750693"/>
          </a:xfrm>
        </p:grpSpPr>
        <p:sp>
          <p:nvSpPr>
            <p:cNvPr name="Freeform 10" id="10"/>
            <p:cNvSpPr/>
            <p:nvPr/>
          </p:nvSpPr>
          <p:spPr>
            <a:xfrm flipH="false" flipV="false" rot="0">
              <a:off x="0" y="0"/>
              <a:ext cx="984318" cy="750693"/>
            </a:xfrm>
            <a:custGeom>
              <a:avLst/>
              <a:gdLst/>
              <a:ahLst/>
              <a:cxnLst/>
              <a:rect r="r" b="b" t="t" l="l"/>
              <a:pathLst>
                <a:path h="750693" w="984318">
                  <a:moveTo>
                    <a:pt x="42649" y="0"/>
                  </a:moveTo>
                  <a:lnTo>
                    <a:pt x="941670" y="0"/>
                  </a:lnTo>
                  <a:cubicBezTo>
                    <a:pt x="965224" y="0"/>
                    <a:pt x="984318" y="19094"/>
                    <a:pt x="984318" y="42649"/>
                  </a:cubicBezTo>
                  <a:lnTo>
                    <a:pt x="984318" y="708044"/>
                  </a:lnTo>
                  <a:cubicBezTo>
                    <a:pt x="984318" y="731598"/>
                    <a:pt x="965224" y="750693"/>
                    <a:pt x="941670" y="750693"/>
                  </a:cubicBezTo>
                  <a:lnTo>
                    <a:pt x="42649" y="750693"/>
                  </a:lnTo>
                  <a:cubicBezTo>
                    <a:pt x="19094" y="750693"/>
                    <a:pt x="0" y="731598"/>
                    <a:pt x="0" y="708044"/>
                  </a:cubicBezTo>
                  <a:lnTo>
                    <a:pt x="0" y="42649"/>
                  </a:lnTo>
                  <a:cubicBezTo>
                    <a:pt x="0" y="19094"/>
                    <a:pt x="19094" y="0"/>
                    <a:pt x="42649" y="0"/>
                  </a:cubicBezTo>
                  <a:close/>
                </a:path>
              </a:pathLst>
            </a:custGeom>
            <a:blipFill>
              <a:blip r:embed="rId4"/>
              <a:stretch>
                <a:fillRect l="0" t="-13654" r="0" b="-82848"/>
              </a:stretch>
            </a:blipFill>
          </p:spPr>
        </p:sp>
      </p:grpSp>
      <p:grpSp>
        <p:nvGrpSpPr>
          <p:cNvPr name="Group 11" id="11"/>
          <p:cNvGrpSpPr/>
          <p:nvPr/>
        </p:nvGrpSpPr>
        <p:grpSpPr>
          <a:xfrm rot="0">
            <a:off x="14604410" y="1506000"/>
            <a:ext cx="4284386" cy="7752300"/>
            <a:chOff x="0" y="0"/>
            <a:chExt cx="663763" cy="1201034"/>
          </a:xfrm>
        </p:grpSpPr>
        <p:sp>
          <p:nvSpPr>
            <p:cNvPr name="Freeform 12" id="12"/>
            <p:cNvSpPr/>
            <p:nvPr/>
          </p:nvSpPr>
          <p:spPr>
            <a:xfrm flipH="false" flipV="false" rot="0">
              <a:off x="0" y="0"/>
              <a:ext cx="663763" cy="1201034"/>
            </a:xfrm>
            <a:custGeom>
              <a:avLst/>
              <a:gdLst/>
              <a:ahLst/>
              <a:cxnLst/>
              <a:rect r="r" b="b" t="t" l="l"/>
              <a:pathLst>
                <a:path h="1201034" w="663763">
                  <a:moveTo>
                    <a:pt x="63245" y="0"/>
                  </a:moveTo>
                  <a:lnTo>
                    <a:pt x="600518" y="0"/>
                  </a:lnTo>
                  <a:cubicBezTo>
                    <a:pt x="635448" y="0"/>
                    <a:pt x="663763" y="28316"/>
                    <a:pt x="663763" y="63245"/>
                  </a:cubicBezTo>
                  <a:lnTo>
                    <a:pt x="663763" y="1137789"/>
                  </a:lnTo>
                  <a:cubicBezTo>
                    <a:pt x="663763" y="1154563"/>
                    <a:pt x="657100" y="1170649"/>
                    <a:pt x="645239" y="1182510"/>
                  </a:cubicBezTo>
                  <a:cubicBezTo>
                    <a:pt x="633379" y="1194371"/>
                    <a:pt x="617292" y="1201034"/>
                    <a:pt x="600518" y="1201034"/>
                  </a:cubicBezTo>
                  <a:lnTo>
                    <a:pt x="63245" y="1201034"/>
                  </a:lnTo>
                  <a:cubicBezTo>
                    <a:pt x="28316" y="1201034"/>
                    <a:pt x="0" y="1172718"/>
                    <a:pt x="0" y="1137789"/>
                  </a:cubicBezTo>
                  <a:lnTo>
                    <a:pt x="0" y="63245"/>
                  </a:lnTo>
                  <a:cubicBezTo>
                    <a:pt x="0" y="28316"/>
                    <a:pt x="28316" y="0"/>
                    <a:pt x="63245" y="0"/>
                  </a:cubicBezTo>
                  <a:close/>
                </a:path>
              </a:pathLst>
            </a:custGeom>
            <a:blipFill>
              <a:blip r:embed="rId5"/>
              <a:stretch>
                <a:fillRect l="-85584" t="0" r="-85584" b="0"/>
              </a:stretch>
            </a:blipFill>
          </p:spPr>
        </p:sp>
      </p:grpSp>
      <p:sp>
        <p:nvSpPr>
          <p:cNvPr name="TextBox 13" id="13"/>
          <p:cNvSpPr txBox="true"/>
          <p:nvPr/>
        </p:nvSpPr>
        <p:spPr>
          <a:xfrm rot="0">
            <a:off x="12774723" y="521256"/>
            <a:ext cx="3659373" cy="332740"/>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Library Management System </a:t>
            </a:r>
          </a:p>
        </p:txBody>
      </p:sp>
      <p:sp>
        <p:nvSpPr>
          <p:cNvPr name="TextBox 14" id="14"/>
          <p:cNvSpPr txBox="true"/>
          <p:nvPr/>
        </p:nvSpPr>
        <p:spPr>
          <a:xfrm rot="0">
            <a:off x="1028700" y="1401225"/>
            <a:ext cx="5307331"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Key Features </a:t>
            </a:r>
          </a:p>
        </p:txBody>
      </p:sp>
      <p:sp>
        <p:nvSpPr>
          <p:cNvPr name="TextBox 15" id="15"/>
          <p:cNvSpPr txBox="true"/>
          <p:nvPr/>
        </p:nvSpPr>
        <p:spPr>
          <a:xfrm rot="0">
            <a:off x="1028700" y="2878138"/>
            <a:ext cx="6353467" cy="1111885"/>
          </a:xfrm>
          <a:prstGeom prst="rect">
            <a:avLst/>
          </a:prstGeom>
        </p:spPr>
        <p:txBody>
          <a:bodyPr anchor="t" rtlCol="false" tIns="0" lIns="0" bIns="0" rIns="0">
            <a:spAutoFit/>
          </a:bodyPr>
          <a:lstStyle/>
          <a:p>
            <a:pPr algn="l">
              <a:lnSpc>
                <a:spcPts val="2239"/>
              </a:lnSpc>
              <a:spcBef>
                <a:spcPct val="0"/>
              </a:spcBef>
            </a:pPr>
            <a:r>
              <a:rPr lang="en-US" sz="1599">
                <a:solidFill>
                  <a:srgbClr val="5E3516"/>
                </a:solidFill>
                <a:latin typeface="Work Sans"/>
                <a:ea typeface="Work Sans"/>
                <a:cs typeface="Work Sans"/>
                <a:sym typeface="Work Sans"/>
              </a:rPr>
              <a:t>T</a:t>
            </a:r>
            <a:r>
              <a:rPr lang="en-US" sz="1599">
                <a:solidFill>
                  <a:srgbClr val="5E3516"/>
                </a:solidFill>
                <a:latin typeface="Work Sans"/>
                <a:ea typeface="Work Sans"/>
                <a:cs typeface="Work Sans"/>
                <a:sym typeface="Work Sans"/>
              </a:rPr>
              <a:t>he Library Management System includes the core features required to manage books, members, and circulation efficiently.</a:t>
            </a:r>
          </a:p>
          <a:p>
            <a:pPr algn="l">
              <a:lnSpc>
                <a:spcPts val="2239"/>
              </a:lnSpc>
              <a:spcBef>
                <a:spcPct val="0"/>
              </a:spcBef>
            </a:pPr>
          </a:p>
        </p:txBody>
      </p:sp>
      <p:sp>
        <p:nvSpPr>
          <p:cNvPr name="TextBox 16" id="16"/>
          <p:cNvSpPr txBox="true"/>
          <p:nvPr/>
        </p:nvSpPr>
        <p:spPr>
          <a:xfrm rot="0">
            <a:off x="8283000" y="2515672"/>
            <a:ext cx="5416535" cy="1068070"/>
          </a:xfrm>
          <a:prstGeom prst="rect">
            <a:avLst/>
          </a:prstGeom>
        </p:spPr>
        <p:txBody>
          <a:bodyPr anchor="t" rtlCol="false" tIns="0" lIns="0" bIns="0" rIns="0">
            <a:spAutoFit/>
          </a:bodyPr>
          <a:lstStyle/>
          <a:p>
            <a:pPr algn="l">
              <a:lnSpc>
                <a:spcPts val="2239"/>
              </a:lnSpc>
              <a:spcBef>
                <a:spcPct val="0"/>
              </a:spcBef>
            </a:pPr>
            <a:r>
              <a:rPr lang="en-US" sz="1599">
                <a:solidFill>
                  <a:srgbClr val="5B2501"/>
                </a:solidFill>
                <a:latin typeface="Work Sans"/>
                <a:ea typeface="Work Sans"/>
                <a:cs typeface="Work Sans"/>
                <a:sym typeface="Work Sans"/>
              </a:rPr>
              <a:t>Add new books to the catalog. Books can be sorted by Title, ID, or Date, and you can search for a specific book title.</a:t>
            </a:r>
          </a:p>
          <a:p>
            <a:pPr algn="l">
              <a:lnSpc>
                <a:spcPts val="1820"/>
              </a:lnSpc>
              <a:spcBef>
                <a:spcPct val="0"/>
              </a:spcBef>
            </a:pPr>
          </a:p>
        </p:txBody>
      </p:sp>
      <p:sp>
        <p:nvSpPr>
          <p:cNvPr name="TextBox 17" id="17"/>
          <p:cNvSpPr txBox="true"/>
          <p:nvPr/>
        </p:nvSpPr>
        <p:spPr>
          <a:xfrm rot="0">
            <a:off x="8283000" y="4784309"/>
            <a:ext cx="5416535" cy="1111885"/>
          </a:xfrm>
          <a:prstGeom prst="rect">
            <a:avLst/>
          </a:prstGeom>
        </p:spPr>
        <p:txBody>
          <a:bodyPr anchor="t" rtlCol="false" tIns="0" lIns="0" bIns="0" rIns="0">
            <a:spAutoFit/>
          </a:bodyPr>
          <a:lstStyle/>
          <a:p>
            <a:pPr algn="l">
              <a:lnSpc>
                <a:spcPts val="2239"/>
              </a:lnSpc>
              <a:spcBef>
                <a:spcPct val="0"/>
              </a:spcBef>
            </a:pPr>
            <a:r>
              <a:rPr lang="en-US" sz="1599">
                <a:solidFill>
                  <a:srgbClr val="5B2501"/>
                </a:solidFill>
                <a:latin typeface="Work Sans"/>
                <a:ea typeface="Work Sans"/>
                <a:cs typeface="Work Sans"/>
                <a:sym typeface="Work Sans"/>
              </a:rPr>
              <a:t>Register new library </a:t>
            </a:r>
            <a:r>
              <a:rPr lang="en-US" sz="1599">
                <a:solidFill>
                  <a:srgbClr val="5B2501"/>
                </a:solidFill>
                <a:latin typeface="Work Sans"/>
                <a:ea typeface="Work Sans"/>
                <a:cs typeface="Work Sans"/>
                <a:sym typeface="Work Sans"/>
              </a:rPr>
              <a:t>members (e.g., student, staff). Members can be searched and sorted similarly to books.</a:t>
            </a:r>
          </a:p>
          <a:p>
            <a:pPr algn="l">
              <a:lnSpc>
                <a:spcPts val="2239"/>
              </a:lnSpc>
              <a:spcBef>
                <a:spcPct val="0"/>
              </a:spcBef>
            </a:pPr>
          </a:p>
        </p:txBody>
      </p:sp>
      <p:sp>
        <p:nvSpPr>
          <p:cNvPr name="TextBox 18" id="18"/>
          <p:cNvSpPr txBox="true"/>
          <p:nvPr/>
        </p:nvSpPr>
        <p:spPr>
          <a:xfrm rot="0">
            <a:off x="8283000" y="7054944"/>
            <a:ext cx="5416535" cy="1940560"/>
          </a:xfrm>
          <a:prstGeom prst="rect">
            <a:avLst/>
          </a:prstGeom>
        </p:spPr>
        <p:txBody>
          <a:bodyPr anchor="t" rtlCol="false" tIns="0" lIns="0" bIns="0" rIns="0">
            <a:spAutoFit/>
          </a:bodyPr>
          <a:lstStyle/>
          <a:p>
            <a:pPr algn="l">
              <a:lnSpc>
                <a:spcPts val="2239"/>
              </a:lnSpc>
              <a:spcBef>
                <a:spcPct val="0"/>
              </a:spcBef>
            </a:pPr>
            <a:r>
              <a:rPr lang="en-US" sz="1599">
                <a:solidFill>
                  <a:srgbClr val="5B2501"/>
                </a:solidFill>
                <a:latin typeface="Work Sans"/>
                <a:ea typeface="Work Sans"/>
                <a:cs typeface="Work Sans"/>
                <a:sym typeface="Work Sans"/>
              </a:rPr>
              <a:t>Issue available books to members. If a book is already borrowed, the syst</a:t>
            </a:r>
            <a:r>
              <a:rPr lang="en-US" sz="1599">
                <a:solidFill>
                  <a:srgbClr val="5B2501"/>
                </a:solidFill>
                <a:latin typeface="Work Sans"/>
                <a:ea typeface="Work Sans"/>
                <a:cs typeface="Work Sans"/>
                <a:sym typeface="Work Sans"/>
              </a:rPr>
              <a:t>em can add the interested member to a waitlist. Returning a book automatically allocates it to the next member on the waitlist or makes it available. Includes a basic fine system for late returns.</a:t>
            </a:r>
          </a:p>
          <a:p>
            <a:pPr algn="l">
              <a:lnSpc>
                <a:spcPts val="2239"/>
              </a:lnSpc>
              <a:spcBef>
                <a:spcPct val="0"/>
              </a:spcBef>
            </a:pPr>
          </a:p>
        </p:txBody>
      </p:sp>
      <p:grpSp>
        <p:nvGrpSpPr>
          <p:cNvPr name="Group 19" id="19"/>
          <p:cNvGrpSpPr/>
          <p:nvPr/>
        </p:nvGrpSpPr>
        <p:grpSpPr>
          <a:xfrm rot="0">
            <a:off x="8283000" y="5896194"/>
            <a:ext cx="3625041" cy="863476"/>
            <a:chOff x="0" y="0"/>
            <a:chExt cx="1290833" cy="307473"/>
          </a:xfrm>
        </p:grpSpPr>
        <p:sp>
          <p:nvSpPr>
            <p:cNvPr name="Freeform 20" id="20"/>
            <p:cNvSpPr/>
            <p:nvPr/>
          </p:nvSpPr>
          <p:spPr>
            <a:xfrm flipH="false" flipV="false" rot="0">
              <a:off x="0" y="0"/>
              <a:ext cx="1290833" cy="307473"/>
            </a:xfrm>
            <a:custGeom>
              <a:avLst/>
              <a:gdLst/>
              <a:ahLst/>
              <a:cxnLst/>
              <a:rect r="r" b="b" t="t" l="l"/>
              <a:pathLst>
                <a:path h="307473" w="1290833">
                  <a:moveTo>
                    <a:pt x="153737" y="0"/>
                  </a:moveTo>
                  <a:lnTo>
                    <a:pt x="1137097" y="0"/>
                  </a:lnTo>
                  <a:cubicBezTo>
                    <a:pt x="1177870" y="0"/>
                    <a:pt x="1216974" y="16197"/>
                    <a:pt x="1245805" y="45028"/>
                  </a:cubicBezTo>
                  <a:cubicBezTo>
                    <a:pt x="1274636" y="73860"/>
                    <a:pt x="1290833" y="112963"/>
                    <a:pt x="1290833" y="153737"/>
                  </a:cubicBezTo>
                  <a:lnTo>
                    <a:pt x="1290833" y="153737"/>
                  </a:lnTo>
                  <a:cubicBezTo>
                    <a:pt x="1290833" y="238643"/>
                    <a:pt x="1222003" y="307473"/>
                    <a:pt x="1137097" y="307473"/>
                  </a:cubicBezTo>
                  <a:lnTo>
                    <a:pt x="153737" y="307473"/>
                  </a:lnTo>
                  <a:cubicBezTo>
                    <a:pt x="68830" y="307473"/>
                    <a:pt x="0" y="238643"/>
                    <a:pt x="0" y="153737"/>
                  </a:cubicBezTo>
                  <a:lnTo>
                    <a:pt x="0" y="153737"/>
                  </a:lnTo>
                  <a:cubicBezTo>
                    <a:pt x="0" y="68830"/>
                    <a:pt x="68830" y="0"/>
                    <a:pt x="153737" y="0"/>
                  </a:cubicBezTo>
                  <a:close/>
                </a:path>
              </a:pathLst>
            </a:custGeom>
            <a:solidFill>
              <a:srgbClr val="5B2501"/>
            </a:solidFill>
            <a:ln cap="rnd">
              <a:noFill/>
              <a:prstDash val="solid"/>
              <a:round/>
            </a:ln>
          </p:spPr>
        </p:sp>
        <p:sp>
          <p:nvSpPr>
            <p:cNvPr name="TextBox 21" id="21"/>
            <p:cNvSpPr txBox="true"/>
            <p:nvPr/>
          </p:nvSpPr>
          <p:spPr>
            <a:xfrm>
              <a:off x="0" y="-57150"/>
              <a:ext cx="1290833" cy="364623"/>
            </a:xfrm>
            <a:prstGeom prst="rect">
              <a:avLst/>
            </a:prstGeom>
          </p:spPr>
          <p:txBody>
            <a:bodyPr anchor="ctr" rtlCol="false" tIns="37573" lIns="37573" bIns="37573" rIns="37573"/>
            <a:lstStyle/>
            <a:p>
              <a:pPr algn="ctr">
                <a:lnSpc>
                  <a:spcPts val="2379"/>
                </a:lnSpc>
              </a:pPr>
              <a:r>
                <a:rPr lang="en-US" sz="1699" b="true">
                  <a:solidFill>
                    <a:srgbClr val="FFFFFF"/>
                  </a:solidFill>
                  <a:latin typeface="Poppins Bold"/>
                  <a:ea typeface="Poppins Bold"/>
                  <a:cs typeface="Poppins Bold"/>
                  <a:sym typeface="Poppins Bold"/>
                </a:rPr>
                <a:t>03. Issue &amp; Return</a:t>
              </a:r>
            </a:p>
            <a:p>
              <a:pPr algn="ctr">
                <a:lnSpc>
                  <a:spcPts val="2379"/>
                </a:lnSpc>
              </a:pPr>
              <a:r>
                <a:rPr lang="en-US" b="true" sz="1699">
                  <a:solidFill>
                    <a:srgbClr val="FFFFFF"/>
                  </a:solidFill>
                  <a:latin typeface="Poppins Bold"/>
                  <a:ea typeface="Poppins Bold"/>
                  <a:cs typeface="Poppins Bold"/>
                  <a:sym typeface="Poppins Bold"/>
                </a:rPr>
                <a:t>Operations</a:t>
              </a:r>
            </a:p>
          </p:txBody>
        </p:sp>
      </p:grpSp>
      <p:sp>
        <p:nvSpPr>
          <p:cNvPr name="TextBox 22" id="22"/>
          <p:cNvSpPr txBox="true"/>
          <p:nvPr/>
        </p:nvSpPr>
        <p:spPr>
          <a:xfrm rot="0">
            <a:off x="8283000" y="3875368"/>
            <a:ext cx="3495110" cy="316230"/>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Work Sans Bold"/>
                <a:ea typeface="Work Sans Bold"/>
                <a:cs typeface="Work Sans Bold"/>
                <a:sym typeface="Work Sans Bold"/>
              </a:rPr>
              <a:t>02. Member Registration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83000" y="2938780"/>
            <a:ext cx="3487637" cy="831850"/>
            <a:chOff x="0" y="0"/>
            <a:chExt cx="1241905" cy="296212"/>
          </a:xfrm>
        </p:grpSpPr>
        <p:sp>
          <p:nvSpPr>
            <p:cNvPr name="Freeform 4" id="4"/>
            <p:cNvSpPr/>
            <p:nvPr/>
          </p:nvSpPr>
          <p:spPr>
            <a:xfrm flipH="false" flipV="false" rot="0">
              <a:off x="0" y="0"/>
              <a:ext cx="1241905" cy="296212"/>
            </a:xfrm>
            <a:custGeom>
              <a:avLst/>
              <a:gdLst/>
              <a:ahLst/>
              <a:cxnLst/>
              <a:rect r="r" b="b" t="t" l="l"/>
              <a:pathLst>
                <a:path h="296212" w="1241905">
                  <a:moveTo>
                    <a:pt x="148106" y="0"/>
                  </a:moveTo>
                  <a:lnTo>
                    <a:pt x="1093799" y="0"/>
                  </a:lnTo>
                  <a:cubicBezTo>
                    <a:pt x="1175596" y="0"/>
                    <a:pt x="1241905" y="66309"/>
                    <a:pt x="1241905" y="148106"/>
                  </a:cubicBezTo>
                  <a:lnTo>
                    <a:pt x="1241905" y="148106"/>
                  </a:lnTo>
                  <a:cubicBezTo>
                    <a:pt x="1241905" y="229902"/>
                    <a:pt x="1175596" y="296212"/>
                    <a:pt x="1093799" y="296212"/>
                  </a:cubicBezTo>
                  <a:lnTo>
                    <a:pt x="148106" y="296212"/>
                  </a:lnTo>
                  <a:cubicBezTo>
                    <a:pt x="66309" y="296212"/>
                    <a:pt x="0" y="229902"/>
                    <a:pt x="0" y="148106"/>
                  </a:cubicBezTo>
                  <a:lnTo>
                    <a:pt x="0" y="148106"/>
                  </a:lnTo>
                  <a:cubicBezTo>
                    <a:pt x="0" y="66309"/>
                    <a:pt x="66309" y="0"/>
                    <a:pt x="148106" y="0"/>
                  </a:cubicBezTo>
                  <a:close/>
                </a:path>
              </a:pathLst>
            </a:custGeom>
            <a:solidFill>
              <a:srgbClr val="5B2501"/>
            </a:solidFill>
            <a:ln cap="rnd">
              <a:noFill/>
              <a:prstDash val="solid"/>
              <a:round/>
            </a:ln>
          </p:spPr>
        </p:sp>
        <p:sp>
          <p:nvSpPr>
            <p:cNvPr name="TextBox 5" id="5"/>
            <p:cNvSpPr txBox="true"/>
            <p:nvPr/>
          </p:nvSpPr>
          <p:spPr>
            <a:xfrm>
              <a:off x="0" y="-57150"/>
              <a:ext cx="1241905" cy="353362"/>
            </a:xfrm>
            <a:prstGeom prst="rect">
              <a:avLst/>
            </a:prstGeom>
          </p:spPr>
          <p:txBody>
            <a:bodyPr anchor="ctr" rtlCol="false" tIns="37573" lIns="37573" bIns="37573" rIns="37573"/>
            <a:lstStyle/>
            <a:p>
              <a:pPr algn="ctr">
                <a:lnSpc>
                  <a:spcPts val="2519"/>
                </a:lnSpc>
              </a:pPr>
              <a:r>
                <a:rPr lang="en-US" b="true" sz="1799">
                  <a:solidFill>
                    <a:srgbClr val="FFFFFF"/>
                  </a:solidFill>
                  <a:latin typeface="Poppins Bold"/>
                  <a:ea typeface="Poppins Bold"/>
                  <a:cs typeface="Poppins Bold"/>
                  <a:sym typeface="Poppins Bold"/>
                </a:rPr>
                <a:t>04. Activity Log</a:t>
              </a:r>
            </a:p>
          </p:txBody>
        </p:sp>
      </p:grpSp>
      <p:grpSp>
        <p:nvGrpSpPr>
          <p:cNvPr name="Group 6" id="6"/>
          <p:cNvGrpSpPr/>
          <p:nvPr/>
        </p:nvGrpSpPr>
        <p:grpSpPr>
          <a:xfrm rot="0">
            <a:off x="8283000" y="5225951"/>
            <a:ext cx="3625041" cy="863476"/>
            <a:chOff x="0" y="0"/>
            <a:chExt cx="1290833" cy="307473"/>
          </a:xfrm>
        </p:grpSpPr>
        <p:sp>
          <p:nvSpPr>
            <p:cNvPr name="Freeform 7" id="7"/>
            <p:cNvSpPr/>
            <p:nvPr/>
          </p:nvSpPr>
          <p:spPr>
            <a:xfrm flipH="false" flipV="false" rot="0">
              <a:off x="0" y="0"/>
              <a:ext cx="1290833" cy="307473"/>
            </a:xfrm>
            <a:custGeom>
              <a:avLst/>
              <a:gdLst/>
              <a:ahLst/>
              <a:cxnLst/>
              <a:rect r="r" b="b" t="t" l="l"/>
              <a:pathLst>
                <a:path h="307473" w="1290833">
                  <a:moveTo>
                    <a:pt x="153737" y="0"/>
                  </a:moveTo>
                  <a:lnTo>
                    <a:pt x="1137097" y="0"/>
                  </a:lnTo>
                  <a:cubicBezTo>
                    <a:pt x="1177870" y="0"/>
                    <a:pt x="1216974" y="16197"/>
                    <a:pt x="1245805" y="45028"/>
                  </a:cubicBezTo>
                  <a:cubicBezTo>
                    <a:pt x="1274636" y="73860"/>
                    <a:pt x="1290833" y="112963"/>
                    <a:pt x="1290833" y="153737"/>
                  </a:cubicBezTo>
                  <a:lnTo>
                    <a:pt x="1290833" y="153737"/>
                  </a:lnTo>
                  <a:cubicBezTo>
                    <a:pt x="1290833" y="238643"/>
                    <a:pt x="1222003" y="307473"/>
                    <a:pt x="1137097" y="307473"/>
                  </a:cubicBezTo>
                  <a:lnTo>
                    <a:pt x="153737" y="307473"/>
                  </a:lnTo>
                  <a:cubicBezTo>
                    <a:pt x="68830" y="307473"/>
                    <a:pt x="0" y="238643"/>
                    <a:pt x="0" y="153737"/>
                  </a:cubicBezTo>
                  <a:lnTo>
                    <a:pt x="0" y="153737"/>
                  </a:lnTo>
                  <a:cubicBezTo>
                    <a:pt x="0" y="68830"/>
                    <a:pt x="68830" y="0"/>
                    <a:pt x="153737" y="0"/>
                  </a:cubicBezTo>
                  <a:close/>
                </a:path>
              </a:pathLst>
            </a:custGeom>
            <a:solidFill>
              <a:srgbClr val="5B2501"/>
            </a:solidFill>
            <a:ln cap="rnd">
              <a:noFill/>
              <a:prstDash val="solid"/>
              <a:round/>
            </a:ln>
          </p:spPr>
        </p:sp>
        <p:sp>
          <p:nvSpPr>
            <p:cNvPr name="TextBox 8" id="8"/>
            <p:cNvSpPr txBox="true"/>
            <p:nvPr/>
          </p:nvSpPr>
          <p:spPr>
            <a:xfrm>
              <a:off x="0" y="-57150"/>
              <a:ext cx="1290833" cy="364623"/>
            </a:xfrm>
            <a:prstGeom prst="rect">
              <a:avLst/>
            </a:prstGeom>
          </p:spPr>
          <p:txBody>
            <a:bodyPr anchor="ctr" rtlCol="false" tIns="37573" lIns="37573" bIns="37573" rIns="37573"/>
            <a:lstStyle/>
            <a:p>
              <a:pPr algn="ctr">
                <a:lnSpc>
                  <a:spcPts val="2379"/>
                </a:lnSpc>
              </a:pPr>
            </a:p>
          </p:txBody>
        </p:sp>
      </p:grpSp>
      <p:grpSp>
        <p:nvGrpSpPr>
          <p:cNvPr name="Group 9" id="9"/>
          <p:cNvGrpSpPr/>
          <p:nvPr/>
        </p:nvGrpSpPr>
        <p:grpSpPr>
          <a:xfrm rot="0">
            <a:off x="1028700" y="4412812"/>
            <a:ext cx="6353467" cy="4845488"/>
            <a:chOff x="0" y="0"/>
            <a:chExt cx="984318" cy="750693"/>
          </a:xfrm>
        </p:grpSpPr>
        <p:sp>
          <p:nvSpPr>
            <p:cNvPr name="Freeform 10" id="10"/>
            <p:cNvSpPr/>
            <p:nvPr/>
          </p:nvSpPr>
          <p:spPr>
            <a:xfrm flipH="false" flipV="false" rot="0">
              <a:off x="0" y="0"/>
              <a:ext cx="984318" cy="750693"/>
            </a:xfrm>
            <a:custGeom>
              <a:avLst/>
              <a:gdLst/>
              <a:ahLst/>
              <a:cxnLst/>
              <a:rect r="r" b="b" t="t" l="l"/>
              <a:pathLst>
                <a:path h="750693" w="984318">
                  <a:moveTo>
                    <a:pt x="42649" y="0"/>
                  </a:moveTo>
                  <a:lnTo>
                    <a:pt x="941670" y="0"/>
                  </a:lnTo>
                  <a:cubicBezTo>
                    <a:pt x="965224" y="0"/>
                    <a:pt x="984318" y="19094"/>
                    <a:pt x="984318" y="42649"/>
                  </a:cubicBezTo>
                  <a:lnTo>
                    <a:pt x="984318" y="708044"/>
                  </a:lnTo>
                  <a:cubicBezTo>
                    <a:pt x="984318" y="731598"/>
                    <a:pt x="965224" y="750693"/>
                    <a:pt x="941670" y="750693"/>
                  </a:cubicBezTo>
                  <a:lnTo>
                    <a:pt x="42649" y="750693"/>
                  </a:lnTo>
                  <a:cubicBezTo>
                    <a:pt x="19094" y="750693"/>
                    <a:pt x="0" y="731598"/>
                    <a:pt x="0" y="708044"/>
                  </a:cubicBezTo>
                  <a:lnTo>
                    <a:pt x="0" y="42649"/>
                  </a:lnTo>
                  <a:cubicBezTo>
                    <a:pt x="0" y="19094"/>
                    <a:pt x="19094" y="0"/>
                    <a:pt x="42649" y="0"/>
                  </a:cubicBezTo>
                  <a:close/>
                </a:path>
              </a:pathLst>
            </a:custGeom>
            <a:blipFill>
              <a:blip r:embed="rId4"/>
              <a:stretch>
                <a:fillRect l="0" t="-13654" r="0" b="-82848"/>
              </a:stretch>
            </a:blipFill>
          </p:spPr>
        </p:sp>
      </p:grpSp>
      <p:grpSp>
        <p:nvGrpSpPr>
          <p:cNvPr name="Group 11" id="11"/>
          <p:cNvGrpSpPr/>
          <p:nvPr/>
        </p:nvGrpSpPr>
        <p:grpSpPr>
          <a:xfrm rot="0">
            <a:off x="14604410" y="1506000"/>
            <a:ext cx="4284386" cy="7752300"/>
            <a:chOff x="0" y="0"/>
            <a:chExt cx="663763" cy="1201034"/>
          </a:xfrm>
        </p:grpSpPr>
        <p:sp>
          <p:nvSpPr>
            <p:cNvPr name="Freeform 12" id="12"/>
            <p:cNvSpPr/>
            <p:nvPr/>
          </p:nvSpPr>
          <p:spPr>
            <a:xfrm flipH="false" flipV="false" rot="0">
              <a:off x="0" y="0"/>
              <a:ext cx="663763" cy="1201034"/>
            </a:xfrm>
            <a:custGeom>
              <a:avLst/>
              <a:gdLst/>
              <a:ahLst/>
              <a:cxnLst/>
              <a:rect r="r" b="b" t="t" l="l"/>
              <a:pathLst>
                <a:path h="1201034" w="663763">
                  <a:moveTo>
                    <a:pt x="63245" y="0"/>
                  </a:moveTo>
                  <a:lnTo>
                    <a:pt x="600518" y="0"/>
                  </a:lnTo>
                  <a:cubicBezTo>
                    <a:pt x="635448" y="0"/>
                    <a:pt x="663763" y="28316"/>
                    <a:pt x="663763" y="63245"/>
                  </a:cubicBezTo>
                  <a:lnTo>
                    <a:pt x="663763" y="1137789"/>
                  </a:lnTo>
                  <a:cubicBezTo>
                    <a:pt x="663763" y="1154563"/>
                    <a:pt x="657100" y="1170649"/>
                    <a:pt x="645239" y="1182510"/>
                  </a:cubicBezTo>
                  <a:cubicBezTo>
                    <a:pt x="633379" y="1194371"/>
                    <a:pt x="617292" y="1201034"/>
                    <a:pt x="600518" y="1201034"/>
                  </a:cubicBezTo>
                  <a:lnTo>
                    <a:pt x="63245" y="1201034"/>
                  </a:lnTo>
                  <a:cubicBezTo>
                    <a:pt x="28316" y="1201034"/>
                    <a:pt x="0" y="1172718"/>
                    <a:pt x="0" y="1137789"/>
                  </a:cubicBezTo>
                  <a:lnTo>
                    <a:pt x="0" y="63245"/>
                  </a:lnTo>
                  <a:cubicBezTo>
                    <a:pt x="0" y="28316"/>
                    <a:pt x="28316" y="0"/>
                    <a:pt x="63245" y="0"/>
                  </a:cubicBezTo>
                  <a:close/>
                </a:path>
              </a:pathLst>
            </a:custGeom>
            <a:blipFill>
              <a:blip r:embed="rId5"/>
              <a:stretch>
                <a:fillRect l="-85584" t="0" r="-85584" b="0"/>
              </a:stretch>
            </a:blipFill>
          </p:spPr>
        </p:sp>
      </p:grpSp>
      <p:sp>
        <p:nvSpPr>
          <p:cNvPr name="TextBox 13" id="13"/>
          <p:cNvSpPr txBox="true"/>
          <p:nvPr/>
        </p:nvSpPr>
        <p:spPr>
          <a:xfrm rot="0">
            <a:off x="12774723" y="521256"/>
            <a:ext cx="3659373" cy="332740"/>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Library Management System </a:t>
            </a:r>
          </a:p>
        </p:txBody>
      </p:sp>
      <p:sp>
        <p:nvSpPr>
          <p:cNvPr name="TextBox 14" id="14"/>
          <p:cNvSpPr txBox="true"/>
          <p:nvPr/>
        </p:nvSpPr>
        <p:spPr>
          <a:xfrm rot="0">
            <a:off x="1028700" y="1401225"/>
            <a:ext cx="5307331"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Key Features </a:t>
            </a:r>
          </a:p>
        </p:txBody>
      </p:sp>
      <p:sp>
        <p:nvSpPr>
          <p:cNvPr name="TextBox 15" id="15"/>
          <p:cNvSpPr txBox="true"/>
          <p:nvPr/>
        </p:nvSpPr>
        <p:spPr>
          <a:xfrm rot="0">
            <a:off x="1028700" y="3009942"/>
            <a:ext cx="5425524" cy="1277862"/>
          </a:xfrm>
          <a:prstGeom prst="rect">
            <a:avLst/>
          </a:prstGeom>
        </p:spPr>
        <p:txBody>
          <a:bodyPr anchor="t" rtlCol="false" tIns="0" lIns="0" bIns="0" rIns="0">
            <a:spAutoFit/>
          </a:bodyPr>
          <a:lstStyle/>
          <a:p>
            <a:pPr algn="l">
              <a:lnSpc>
                <a:spcPts val="2239"/>
              </a:lnSpc>
            </a:pPr>
            <a:r>
              <a:rPr lang="en-US" sz="1599">
                <a:solidFill>
                  <a:srgbClr val="5B2501"/>
                </a:solidFill>
                <a:latin typeface="Work Sans"/>
                <a:ea typeface="Work Sans"/>
                <a:cs typeface="Work Sans"/>
                <a:sym typeface="Work Sans"/>
              </a:rPr>
              <a:t>These additional features enhance the functionality of the Library Management System by improving record management, security, and administrative control.</a:t>
            </a:r>
          </a:p>
          <a:p>
            <a:pPr algn="l">
              <a:lnSpc>
                <a:spcPts val="1793"/>
              </a:lnSpc>
              <a:spcBef>
                <a:spcPct val="0"/>
              </a:spcBef>
            </a:pPr>
          </a:p>
          <a:p>
            <a:pPr algn="l">
              <a:lnSpc>
                <a:spcPts val="1793"/>
              </a:lnSpc>
              <a:spcBef>
                <a:spcPct val="0"/>
              </a:spcBef>
            </a:pPr>
          </a:p>
        </p:txBody>
      </p:sp>
      <p:sp>
        <p:nvSpPr>
          <p:cNvPr name="TextBox 16" id="16"/>
          <p:cNvSpPr txBox="true"/>
          <p:nvPr/>
        </p:nvSpPr>
        <p:spPr>
          <a:xfrm rot="0">
            <a:off x="8283000" y="4075430"/>
            <a:ext cx="5416535" cy="1068070"/>
          </a:xfrm>
          <a:prstGeom prst="rect">
            <a:avLst/>
          </a:prstGeom>
        </p:spPr>
        <p:txBody>
          <a:bodyPr anchor="t" rtlCol="false" tIns="0" lIns="0" bIns="0" rIns="0">
            <a:spAutoFit/>
          </a:bodyPr>
          <a:lstStyle/>
          <a:p>
            <a:pPr algn="l">
              <a:lnSpc>
                <a:spcPts val="2239"/>
              </a:lnSpc>
            </a:pPr>
            <a:r>
              <a:rPr lang="en-US" sz="1599">
                <a:solidFill>
                  <a:srgbClr val="5E3516"/>
                </a:solidFill>
                <a:latin typeface="Work Sans"/>
                <a:ea typeface="Work Sans"/>
                <a:cs typeface="Work Sans"/>
                <a:sym typeface="Work Sans"/>
              </a:rPr>
              <a:t>Every action (adding a book, registering a member, issuing/returning) is recorded with a timestamp.</a:t>
            </a:r>
          </a:p>
          <a:p>
            <a:pPr algn="l">
              <a:lnSpc>
                <a:spcPts val="2239"/>
              </a:lnSpc>
              <a:spcBef>
                <a:spcPct val="0"/>
              </a:spcBef>
            </a:pPr>
          </a:p>
          <a:p>
            <a:pPr algn="l">
              <a:lnSpc>
                <a:spcPts val="1820"/>
              </a:lnSpc>
              <a:spcBef>
                <a:spcPct val="0"/>
              </a:spcBef>
            </a:pPr>
          </a:p>
        </p:txBody>
      </p:sp>
      <p:sp>
        <p:nvSpPr>
          <p:cNvPr name="TextBox 17" id="17"/>
          <p:cNvSpPr txBox="true"/>
          <p:nvPr/>
        </p:nvSpPr>
        <p:spPr>
          <a:xfrm rot="0">
            <a:off x="8283000" y="6393913"/>
            <a:ext cx="5416535" cy="835660"/>
          </a:xfrm>
          <a:prstGeom prst="rect">
            <a:avLst/>
          </a:prstGeom>
        </p:spPr>
        <p:txBody>
          <a:bodyPr anchor="t" rtlCol="false" tIns="0" lIns="0" bIns="0" rIns="0">
            <a:spAutoFit/>
          </a:bodyPr>
          <a:lstStyle/>
          <a:p>
            <a:pPr algn="l">
              <a:lnSpc>
                <a:spcPts val="2239"/>
              </a:lnSpc>
              <a:spcBef>
                <a:spcPct val="0"/>
              </a:spcBef>
            </a:pPr>
            <a:r>
              <a:rPr lang="en-US" sz="1599">
                <a:solidFill>
                  <a:srgbClr val="5B2501"/>
                </a:solidFill>
                <a:latin typeface="Work Sans"/>
                <a:ea typeface="Work Sans"/>
                <a:cs typeface="Work Sans"/>
                <a:sym typeface="Work Sans"/>
              </a:rPr>
              <a:t>Ability to download syst</a:t>
            </a:r>
            <a:r>
              <a:rPr lang="en-US" sz="1599">
                <a:solidFill>
                  <a:srgbClr val="5B2501"/>
                </a:solidFill>
                <a:latin typeface="Work Sans"/>
                <a:ea typeface="Work Sans"/>
                <a:cs typeface="Work Sans"/>
                <a:sym typeface="Work Sans"/>
              </a:rPr>
              <a:t>em logs as a CSV file, and a feature to completely wipe/reset the local database.</a:t>
            </a:r>
          </a:p>
          <a:p>
            <a:pPr algn="l">
              <a:lnSpc>
                <a:spcPts val="2239"/>
              </a:lnSpc>
              <a:spcBef>
                <a:spcPct val="0"/>
              </a:spcBef>
            </a:pPr>
          </a:p>
        </p:txBody>
      </p:sp>
      <p:sp>
        <p:nvSpPr>
          <p:cNvPr name="TextBox 18" id="18"/>
          <p:cNvSpPr txBox="true"/>
          <p:nvPr/>
        </p:nvSpPr>
        <p:spPr>
          <a:xfrm rot="0">
            <a:off x="8347966" y="5475762"/>
            <a:ext cx="3495110" cy="316230"/>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Work Sans Bold"/>
                <a:ea typeface="Work Sans Bold"/>
                <a:cs typeface="Work Sans Bold"/>
                <a:sym typeface="Work Sans Bold"/>
              </a:rPr>
              <a:t>05. Data Export &amp; Reset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736152" y="1301468"/>
            <a:ext cx="5835466" cy="7575832"/>
            <a:chOff x="0" y="0"/>
            <a:chExt cx="1231413" cy="1598669"/>
          </a:xfrm>
        </p:grpSpPr>
        <p:sp>
          <p:nvSpPr>
            <p:cNvPr name="Freeform 4" id="4"/>
            <p:cNvSpPr/>
            <p:nvPr/>
          </p:nvSpPr>
          <p:spPr>
            <a:xfrm flipH="false" flipV="false" rot="0">
              <a:off x="0" y="0"/>
              <a:ext cx="1231413" cy="1598669"/>
            </a:xfrm>
            <a:custGeom>
              <a:avLst/>
              <a:gdLst/>
              <a:ahLst/>
              <a:cxnLst/>
              <a:rect r="r" b="b" t="t" l="l"/>
              <a:pathLst>
                <a:path h="1598669" w="1231413">
                  <a:moveTo>
                    <a:pt x="46435" y="0"/>
                  </a:moveTo>
                  <a:lnTo>
                    <a:pt x="1184978" y="0"/>
                  </a:lnTo>
                  <a:cubicBezTo>
                    <a:pt x="1197293" y="0"/>
                    <a:pt x="1209104" y="4892"/>
                    <a:pt x="1217812" y="13600"/>
                  </a:cubicBezTo>
                  <a:cubicBezTo>
                    <a:pt x="1226520" y="22309"/>
                    <a:pt x="1231413" y="34119"/>
                    <a:pt x="1231413" y="46435"/>
                  </a:cubicBezTo>
                  <a:lnTo>
                    <a:pt x="1231413" y="1552234"/>
                  </a:lnTo>
                  <a:cubicBezTo>
                    <a:pt x="1231413" y="1564549"/>
                    <a:pt x="1226520" y="1576360"/>
                    <a:pt x="1217812" y="1585068"/>
                  </a:cubicBezTo>
                  <a:cubicBezTo>
                    <a:pt x="1209104" y="1593776"/>
                    <a:pt x="1197293" y="1598669"/>
                    <a:pt x="1184978" y="1598669"/>
                  </a:cubicBezTo>
                  <a:lnTo>
                    <a:pt x="46435" y="1598669"/>
                  </a:lnTo>
                  <a:cubicBezTo>
                    <a:pt x="34119" y="1598669"/>
                    <a:pt x="22309" y="1593776"/>
                    <a:pt x="13600" y="1585068"/>
                  </a:cubicBezTo>
                  <a:cubicBezTo>
                    <a:pt x="4892" y="1576360"/>
                    <a:pt x="0" y="1564549"/>
                    <a:pt x="0" y="1552234"/>
                  </a:cubicBezTo>
                  <a:lnTo>
                    <a:pt x="0" y="46435"/>
                  </a:lnTo>
                  <a:cubicBezTo>
                    <a:pt x="0" y="34119"/>
                    <a:pt x="4892" y="22309"/>
                    <a:pt x="13600" y="13600"/>
                  </a:cubicBezTo>
                  <a:cubicBezTo>
                    <a:pt x="22309" y="4892"/>
                    <a:pt x="34119" y="0"/>
                    <a:pt x="46435" y="0"/>
                  </a:cubicBezTo>
                  <a:close/>
                </a:path>
              </a:pathLst>
            </a:custGeom>
            <a:blipFill>
              <a:blip r:embed="rId4"/>
              <a:stretch>
                <a:fillRect l="-47279" t="0" r="-47279" b="0"/>
              </a:stretch>
            </a:blipFill>
          </p:spPr>
        </p:sp>
      </p:grpSp>
      <p:sp>
        <p:nvSpPr>
          <p:cNvPr name="TextBox 5" id="5"/>
          <p:cNvSpPr txBox="true"/>
          <p:nvPr/>
        </p:nvSpPr>
        <p:spPr>
          <a:xfrm rot="0">
            <a:off x="11567963" y="493895"/>
            <a:ext cx="4726880" cy="666115"/>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t>
            </a:r>
            <a:r>
              <a:rPr lang="en-US" b="true" sz="1899">
                <a:solidFill>
                  <a:srgbClr val="5B2501"/>
                </a:solidFill>
                <a:latin typeface="Work Sans Bold"/>
                <a:ea typeface="Work Sans Bold"/>
                <a:cs typeface="Work Sans Bold"/>
                <a:sym typeface="Work Sans Bold"/>
              </a:rPr>
              <a:t>ary Management System </a:t>
            </a:r>
          </a:p>
          <a:p>
            <a:pPr algn="r">
              <a:lnSpc>
                <a:spcPts val="2659"/>
              </a:lnSpc>
              <a:spcBef>
                <a:spcPct val="0"/>
              </a:spcBef>
            </a:pPr>
          </a:p>
        </p:txBody>
      </p:sp>
      <p:sp>
        <p:nvSpPr>
          <p:cNvPr name="TextBox 6" id="6"/>
          <p:cNvSpPr txBox="true"/>
          <p:nvPr/>
        </p:nvSpPr>
        <p:spPr>
          <a:xfrm rot="0">
            <a:off x="1028700" y="923925"/>
            <a:ext cx="5307331"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Core Features</a:t>
            </a:r>
          </a:p>
        </p:txBody>
      </p:sp>
      <p:sp>
        <p:nvSpPr>
          <p:cNvPr name="TextBox 7" id="7"/>
          <p:cNvSpPr txBox="true"/>
          <p:nvPr/>
        </p:nvSpPr>
        <p:spPr>
          <a:xfrm rot="0">
            <a:off x="1028700" y="2420620"/>
            <a:ext cx="5467755" cy="1066800"/>
          </a:xfrm>
          <a:prstGeom prst="rect">
            <a:avLst/>
          </a:prstGeom>
        </p:spPr>
        <p:txBody>
          <a:bodyPr anchor="t" rtlCol="false" tIns="0" lIns="0" bIns="0" rIns="0">
            <a:spAutoFit/>
          </a:bodyPr>
          <a:lstStyle/>
          <a:p>
            <a:pPr algn="l">
              <a:lnSpc>
                <a:spcPts val="4200"/>
              </a:lnSpc>
            </a:pPr>
            <a:r>
              <a:rPr lang="en-US" sz="3000" b="true">
                <a:solidFill>
                  <a:srgbClr val="5B2501"/>
                </a:solidFill>
                <a:latin typeface="Work Sans Bold"/>
                <a:ea typeface="Work Sans Bold"/>
                <a:cs typeface="Work Sans Bold"/>
                <a:sym typeface="Work Sans Bold"/>
              </a:rPr>
              <a:t>01. Smart Book Cataloging</a:t>
            </a:r>
          </a:p>
          <a:p>
            <a:pPr algn="l">
              <a:lnSpc>
                <a:spcPts val="4200"/>
              </a:lnSpc>
              <a:spcBef>
                <a:spcPct val="0"/>
              </a:spcBef>
            </a:pPr>
          </a:p>
        </p:txBody>
      </p:sp>
      <p:sp>
        <p:nvSpPr>
          <p:cNvPr name="TextBox 8" id="8"/>
          <p:cNvSpPr txBox="true"/>
          <p:nvPr/>
        </p:nvSpPr>
        <p:spPr>
          <a:xfrm rot="0">
            <a:off x="1028700" y="3189962"/>
            <a:ext cx="6353467" cy="817880"/>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U</a:t>
            </a:r>
            <a:r>
              <a:rPr lang="en-US" sz="1500">
                <a:solidFill>
                  <a:srgbClr val="000000"/>
                </a:solidFill>
                <a:latin typeface="Work Sans"/>
                <a:ea typeface="Work Sans"/>
                <a:cs typeface="Work Sans"/>
                <a:sym typeface="Work Sans"/>
              </a:rPr>
              <a:t>sers can add, update, and remove books from genres like Horror, Suspense, and Action.</a:t>
            </a:r>
          </a:p>
          <a:p>
            <a:pPr algn="l">
              <a:lnSpc>
                <a:spcPts val="2239"/>
              </a:lnSpc>
              <a:spcBef>
                <a:spcPct val="0"/>
              </a:spcBef>
            </a:pPr>
          </a:p>
        </p:txBody>
      </p:sp>
      <p:sp>
        <p:nvSpPr>
          <p:cNvPr name="TextBox 9" id="9"/>
          <p:cNvSpPr txBox="true"/>
          <p:nvPr/>
        </p:nvSpPr>
        <p:spPr>
          <a:xfrm rot="0">
            <a:off x="1028700" y="3986093"/>
            <a:ext cx="6966791" cy="1066800"/>
          </a:xfrm>
          <a:prstGeom prst="rect">
            <a:avLst/>
          </a:prstGeom>
        </p:spPr>
        <p:txBody>
          <a:bodyPr anchor="t" rtlCol="false" tIns="0" lIns="0" bIns="0" rIns="0">
            <a:spAutoFit/>
          </a:bodyPr>
          <a:lstStyle/>
          <a:p>
            <a:pPr algn="l">
              <a:lnSpc>
                <a:spcPts val="4200"/>
              </a:lnSpc>
            </a:pPr>
            <a:r>
              <a:rPr lang="en-US" sz="3000" b="true">
                <a:solidFill>
                  <a:srgbClr val="5B2501"/>
                </a:solidFill>
                <a:latin typeface="Work Sans Bold"/>
                <a:ea typeface="Work Sans Bold"/>
                <a:cs typeface="Work Sans Bold"/>
                <a:sym typeface="Work Sans Bold"/>
              </a:rPr>
              <a:t>02. Member</a:t>
            </a:r>
            <a:r>
              <a:rPr lang="en-US" sz="3000" b="true">
                <a:solidFill>
                  <a:srgbClr val="5B2501"/>
                </a:solidFill>
                <a:latin typeface="Work Sans Bold"/>
                <a:ea typeface="Work Sans Bold"/>
                <a:cs typeface="Work Sans Bold"/>
                <a:sym typeface="Work Sans Bold"/>
              </a:rPr>
              <a:t> Record Maintenance</a:t>
            </a:r>
          </a:p>
          <a:p>
            <a:pPr algn="l">
              <a:lnSpc>
                <a:spcPts val="4200"/>
              </a:lnSpc>
              <a:spcBef>
                <a:spcPct val="0"/>
              </a:spcBef>
            </a:pPr>
          </a:p>
        </p:txBody>
      </p:sp>
      <p:sp>
        <p:nvSpPr>
          <p:cNvPr name="TextBox 10" id="10"/>
          <p:cNvSpPr txBox="true"/>
          <p:nvPr/>
        </p:nvSpPr>
        <p:spPr>
          <a:xfrm rot="0">
            <a:off x="1028700" y="4714875"/>
            <a:ext cx="6353467" cy="8096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Th</a:t>
            </a:r>
            <a:r>
              <a:rPr lang="en-US" sz="1500">
                <a:solidFill>
                  <a:srgbClr val="000000"/>
                </a:solidFill>
                <a:latin typeface="Work Sans"/>
                <a:ea typeface="Work Sans"/>
                <a:cs typeface="Work Sans"/>
                <a:sym typeface="Work Sans"/>
              </a:rPr>
              <a:t>e system tracks library members and their personal details to ensure accountability.</a:t>
            </a:r>
          </a:p>
          <a:p>
            <a:pPr algn="l">
              <a:lnSpc>
                <a:spcPts val="2100"/>
              </a:lnSpc>
              <a:spcBef>
                <a:spcPct val="0"/>
              </a:spcBef>
            </a:pPr>
          </a:p>
        </p:txBody>
      </p:sp>
      <p:sp>
        <p:nvSpPr>
          <p:cNvPr name="TextBox 11" id="11"/>
          <p:cNvSpPr txBox="true"/>
          <p:nvPr/>
        </p:nvSpPr>
        <p:spPr>
          <a:xfrm rot="0">
            <a:off x="1028700" y="5551567"/>
            <a:ext cx="7257079" cy="1066800"/>
          </a:xfrm>
          <a:prstGeom prst="rect">
            <a:avLst/>
          </a:prstGeom>
        </p:spPr>
        <p:txBody>
          <a:bodyPr anchor="t" rtlCol="false" tIns="0" lIns="0" bIns="0" rIns="0">
            <a:spAutoFit/>
          </a:bodyPr>
          <a:lstStyle/>
          <a:p>
            <a:pPr algn="l">
              <a:lnSpc>
                <a:spcPts val="4200"/>
              </a:lnSpc>
            </a:pPr>
            <a:r>
              <a:rPr lang="en-US" sz="3000" b="true">
                <a:solidFill>
                  <a:srgbClr val="5B2501"/>
                </a:solidFill>
                <a:latin typeface="Work Sans Bold"/>
                <a:ea typeface="Work Sans Bold"/>
                <a:cs typeface="Work Sans Bold"/>
                <a:sym typeface="Work Sans Bold"/>
              </a:rPr>
              <a:t>03. Borrowing &amp; Returns Tracking</a:t>
            </a:r>
          </a:p>
          <a:p>
            <a:pPr algn="l">
              <a:lnSpc>
                <a:spcPts val="4200"/>
              </a:lnSpc>
              <a:spcBef>
                <a:spcPct val="0"/>
              </a:spcBef>
            </a:pPr>
          </a:p>
        </p:txBody>
      </p:sp>
      <p:sp>
        <p:nvSpPr>
          <p:cNvPr name="TextBox 12" id="12"/>
          <p:cNvSpPr txBox="true"/>
          <p:nvPr/>
        </p:nvSpPr>
        <p:spPr>
          <a:xfrm rot="0">
            <a:off x="1028700" y="6400482"/>
            <a:ext cx="6353467" cy="8096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A</a:t>
            </a:r>
            <a:r>
              <a:rPr lang="en-US" sz="1500">
                <a:solidFill>
                  <a:srgbClr val="000000"/>
                </a:solidFill>
                <a:latin typeface="Work Sans"/>
                <a:ea typeface="Work Sans"/>
                <a:cs typeface="Work Sans"/>
                <a:sym typeface="Work Sans"/>
              </a:rPr>
              <a:t> dedicated module to record which books are checked out and when they are returned.</a:t>
            </a:r>
          </a:p>
          <a:p>
            <a:pPr algn="l">
              <a:lnSpc>
                <a:spcPts val="2100"/>
              </a:lnSpc>
              <a:spcBef>
                <a:spcPct val="0"/>
              </a:spcBef>
            </a:pPr>
          </a:p>
        </p:txBody>
      </p:sp>
      <p:sp>
        <p:nvSpPr>
          <p:cNvPr name="TextBox 13" id="13"/>
          <p:cNvSpPr txBox="true"/>
          <p:nvPr/>
        </p:nvSpPr>
        <p:spPr>
          <a:xfrm rot="0">
            <a:off x="1028700" y="7331551"/>
            <a:ext cx="7257079" cy="533400"/>
          </a:xfrm>
          <a:prstGeom prst="rect">
            <a:avLst/>
          </a:prstGeom>
        </p:spPr>
        <p:txBody>
          <a:bodyPr anchor="t" rtlCol="false" tIns="0" lIns="0" bIns="0" rIns="0">
            <a:spAutoFit/>
          </a:bodyPr>
          <a:lstStyle/>
          <a:p>
            <a:pPr algn="l">
              <a:lnSpc>
                <a:spcPts val="4200"/>
              </a:lnSpc>
              <a:spcBef>
                <a:spcPct val="0"/>
              </a:spcBef>
            </a:pPr>
            <a:r>
              <a:rPr lang="en-US" b="true" sz="3000">
                <a:solidFill>
                  <a:srgbClr val="5B2501"/>
                </a:solidFill>
                <a:latin typeface="Work Sans Bold"/>
                <a:ea typeface="Work Sans Bold"/>
                <a:cs typeface="Work Sans Bold"/>
                <a:sym typeface="Work Sans Bold"/>
              </a:rPr>
              <a:t>04. Responsive Dashboard</a:t>
            </a:r>
          </a:p>
        </p:txBody>
      </p:sp>
      <p:sp>
        <p:nvSpPr>
          <p:cNvPr name="TextBox 14" id="14"/>
          <p:cNvSpPr txBox="true"/>
          <p:nvPr/>
        </p:nvSpPr>
        <p:spPr>
          <a:xfrm rot="0">
            <a:off x="1028700" y="8067675"/>
            <a:ext cx="6353467" cy="809625"/>
          </a:xfrm>
          <a:prstGeom prst="rect">
            <a:avLst/>
          </a:prstGeom>
        </p:spPr>
        <p:txBody>
          <a:bodyPr anchor="t" rtlCol="false" tIns="0" lIns="0" bIns="0" rIns="0">
            <a:spAutoFit/>
          </a:bodyPr>
          <a:lstStyle/>
          <a:p>
            <a:pPr algn="l">
              <a:lnSpc>
                <a:spcPts val="2100"/>
              </a:lnSpc>
            </a:pPr>
            <a:r>
              <a:rPr lang="en-US" sz="1500">
                <a:solidFill>
                  <a:srgbClr val="000000"/>
                </a:solidFill>
                <a:latin typeface="Work Sans"/>
                <a:ea typeface="Work Sans"/>
                <a:cs typeface="Work Sans"/>
                <a:sym typeface="Work Sans"/>
              </a:rPr>
              <a:t>A modern UI that works on desktops and mobile devices.</a:t>
            </a:r>
          </a:p>
          <a:p>
            <a:pPr algn="l">
              <a:lnSpc>
                <a:spcPts val="2100"/>
              </a:lnSpc>
              <a:spcBef>
                <a:spcPct val="0"/>
              </a:spcBef>
            </a:pPr>
          </a:p>
          <a:p>
            <a:pPr algn="l">
              <a:lnSpc>
                <a:spcPts val="21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736152" y="1301468"/>
            <a:ext cx="5835466" cy="7575832"/>
            <a:chOff x="0" y="0"/>
            <a:chExt cx="1231413" cy="1598669"/>
          </a:xfrm>
        </p:grpSpPr>
        <p:sp>
          <p:nvSpPr>
            <p:cNvPr name="Freeform 4" id="4"/>
            <p:cNvSpPr/>
            <p:nvPr/>
          </p:nvSpPr>
          <p:spPr>
            <a:xfrm flipH="false" flipV="false" rot="0">
              <a:off x="0" y="0"/>
              <a:ext cx="1231413" cy="1598669"/>
            </a:xfrm>
            <a:custGeom>
              <a:avLst/>
              <a:gdLst/>
              <a:ahLst/>
              <a:cxnLst/>
              <a:rect r="r" b="b" t="t" l="l"/>
              <a:pathLst>
                <a:path h="1598669" w="1231413">
                  <a:moveTo>
                    <a:pt x="46435" y="0"/>
                  </a:moveTo>
                  <a:lnTo>
                    <a:pt x="1184978" y="0"/>
                  </a:lnTo>
                  <a:cubicBezTo>
                    <a:pt x="1197293" y="0"/>
                    <a:pt x="1209104" y="4892"/>
                    <a:pt x="1217812" y="13600"/>
                  </a:cubicBezTo>
                  <a:cubicBezTo>
                    <a:pt x="1226520" y="22309"/>
                    <a:pt x="1231413" y="34119"/>
                    <a:pt x="1231413" y="46435"/>
                  </a:cubicBezTo>
                  <a:lnTo>
                    <a:pt x="1231413" y="1552234"/>
                  </a:lnTo>
                  <a:cubicBezTo>
                    <a:pt x="1231413" y="1564549"/>
                    <a:pt x="1226520" y="1576360"/>
                    <a:pt x="1217812" y="1585068"/>
                  </a:cubicBezTo>
                  <a:cubicBezTo>
                    <a:pt x="1209104" y="1593776"/>
                    <a:pt x="1197293" y="1598669"/>
                    <a:pt x="1184978" y="1598669"/>
                  </a:cubicBezTo>
                  <a:lnTo>
                    <a:pt x="46435" y="1598669"/>
                  </a:lnTo>
                  <a:cubicBezTo>
                    <a:pt x="34119" y="1598669"/>
                    <a:pt x="22309" y="1593776"/>
                    <a:pt x="13600" y="1585068"/>
                  </a:cubicBezTo>
                  <a:cubicBezTo>
                    <a:pt x="4892" y="1576360"/>
                    <a:pt x="0" y="1564549"/>
                    <a:pt x="0" y="1552234"/>
                  </a:cubicBezTo>
                  <a:lnTo>
                    <a:pt x="0" y="46435"/>
                  </a:lnTo>
                  <a:cubicBezTo>
                    <a:pt x="0" y="34119"/>
                    <a:pt x="4892" y="22309"/>
                    <a:pt x="13600" y="13600"/>
                  </a:cubicBezTo>
                  <a:cubicBezTo>
                    <a:pt x="22309" y="4892"/>
                    <a:pt x="34119" y="0"/>
                    <a:pt x="46435" y="0"/>
                  </a:cubicBezTo>
                  <a:close/>
                </a:path>
              </a:pathLst>
            </a:custGeom>
            <a:blipFill>
              <a:blip r:embed="rId4"/>
              <a:stretch>
                <a:fillRect l="-47279" t="0" r="-47279" b="0"/>
              </a:stretch>
            </a:blipFill>
          </p:spPr>
        </p:sp>
      </p:grpSp>
      <p:sp>
        <p:nvSpPr>
          <p:cNvPr name="TextBox 5" id="5"/>
          <p:cNvSpPr txBox="true"/>
          <p:nvPr/>
        </p:nvSpPr>
        <p:spPr>
          <a:xfrm rot="0">
            <a:off x="11540927" y="521256"/>
            <a:ext cx="4726880" cy="666115"/>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t>
            </a:r>
            <a:r>
              <a:rPr lang="en-US" b="true" sz="1899">
                <a:solidFill>
                  <a:srgbClr val="5B2501"/>
                </a:solidFill>
                <a:latin typeface="Work Sans Bold"/>
                <a:ea typeface="Work Sans Bold"/>
                <a:cs typeface="Work Sans Bold"/>
                <a:sym typeface="Work Sans Bold"/>
              </a:rPr>
              <a:t>ary Management System </a:t>
            </a:r>
          </a:p>
          <a:p>
            <a:pPr algn="r">
              <a:lnSpc>
                <a:spcPts val="2659"/>
              </a:lnSpc>
              <a:spcBef>
                <a:spcPct val="0"/>
              </a:spcBef>
            </a:pPr>
          </a:p>
        </p:txBody>
      </p:sp>
      <p:sp>
        <p:nvSpPr>
          <p:cNvPr name="TextBox 6" id="6"/>
          <p:cNvSpPr txBox="true"/>
          <p:nvPr/>
        </p:nvSpPr>
        <p:spPr>
          <a:xfrm rot="0">
            <a:off x="1028700" y="923925"/>
            <a:ext cx="5307331"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Core Features</a:t>
            </a:r>
          </a:p>
        </p:txBody>
      </p:sp>
      <p:sp>
        <p:nvSpPr>
          <p:cNvPr name="TextBox 7" id="7"/>
          <p:cNvSpPr txBox="true"/>
          <p:nvPr/>
        </p:nvSpPr>
        <p:spPr>
          <a:xfrm rot="0">
            <a:off x="1028700" y="2337876"/>
            <a:ext cx="5467755" cy="533400"/>
          </a:xfrm>
          <a:prstGeom prst="rect">
            <a:avLst/>
          </a:prstGeom>
        </p:spPr>
        <p:txBody>
          <a:bodyPr anchor="t" rtlCol="false" tIns="0" lIns="0" bIns="0" rIns="0">
            <a:spAutoFit/>
          </a:bodyPr>
          <a:lstStyle/>
          <a:p>
            <a:pPr algn="l">
              <a:lnSpc>
                <a:spcPts val="4200"/>
              </a:lnSpc>
              <a:spcBef>
                <a:spcPct val="0"/>
              </a:spcBef>
            </a:pPr>
            <a:r>
              <a:rPr lang="en-US" b="true" sz="3000">
                <a:solidFill>
                  <a:srgbClr val="5B2501"/>
                </a:solidFill>
                <a:latin typeface="Work Sans Bold"/>
                <a:ea typeface="Work Sans Bold"/>
                <a:cs typeface="Work Sans Bold"/>
                <a:sym typeface="Work Sans Bold"/>
              </a:rPr>
              <a:t>05. Pe</a:t>
            </a:r>
            <a:r>
              <a:rPr lang="en-US" b="true" sz="3000">
                <a:solidFill>
                  <a:srgbClr val="5B2501"/>
                </a:solidFill>
                <a:latin typeface="Work Sans Bold"/>
                <a:ea typeface="Work Sans Bold"/>
                <a:cs typeface="Work Sans Bold"/>
                <a:sym typeface="Work Sans Bold"/>
              </a:rPr>
              <a:t>rsistent Data Storage</a:t>
            </a:r>
          </a:p>
        </p:txBody>
      </p:sp>
      <p:sp>
        <p:nvSpPr>
          <p:cNvPr name="TextBox 8" id="8"/>
          <p:cNvSpPr txBox="true"/>
          <p:nvPr/>
        </p:nvSpPr>
        <p:spPr>
          <a:xfrm rot="0">
            <a:off x="1124678" y="3157026"/>
            <a:ext cx="6353467" cy="817880"/>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All library records are saved using local Storage so that the data remains safe even after the browser is closed.</a:t>
            </a:r>
          </a:p>
          <a:p>
            <a:pPr algn="l">
              <a:lnSpc>
                <a:spcPts val="2239"/>
              </a:lnSpc>
              <a:spcBef>
                <a:spcPct val="0"/>
              </a:spcBef>
            </a:pPr>
          </a:p>
        </p:txBody>
      </p:sp>
      <p:sp>
        <p:nvSpPr>
          <p:cNvPr name="TextBox 9" id="9"/>
          <p:cNvSpPr txBox="true"/>
          <p:nvPr/>
        </p:nvSpPr>
        <p:spPr>
          <a:xfrm rot="0">
            <a:off x="1028700" y="4280976"/>
            <a:ext cx="6966791" cy="533400"/>
          </a:xfrm>
          <a:prstGeom prst="rect">
            <a:avLst/>
          </a:prstGeom>
        </p:spPr>
        <p:txBody>
          <a:bodyPr anchor="t" rtlCol="false" tIns="0" lIns="0" bIns="0" rIns="0">
            <a:spAutoFit/>
          </a:bodyPr>
          <a:lstStyle/>
          <a:p>
            <a:pPr algn="l">
              <a:lnSpc>
                <a:spcPts val="4200"/>
              </a:lnSpc>
              <a:spcBef>
                <a:spcPct val="0"/>
              </a:spcBef>
            </a:pPr>
            <a:r>
              <a:rPr lang="en-US" b="true" sz="3000">
                <a:solidFill>
                  <a:srgbClr val="5B2501"/>
                </a:solidFill>
                <a:latin typeface="Work Sans Bold"/>
                <a:ea typeface="Work Sans Bold"/>
                <a:cs typeface="Work Sans Bold"/>
                <a:sym typeface="Work Sans Bold"/>
              </a:rPr>
              <a:t>06. Search &amp; Filter System</a:t>
            </a:r>
          </a:p>
        </p:txBody>
      </p:sp>
      <p:sp>
        <p:nvSpPr>
          <p:cNvPr name="TextBox 10" id="10"/>
          <p:cNvSpPr txBox="true"/>
          <p:nvPr/>
        </p:nvSpPr>
        <p:spPr>
          <a:xfrm rot="0">
            <a:off x="1124678" y="5095875"/>
            <a:ext cx="6353467" cy="8096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Users can quickly find books by searching for titles, authors, or specific genres.</a:t>
            </a:r>
          </a:p>
          <a:p>
            <a:pPr algn="l">
              <a:lnSpc>
                <a:spcPts val="2100"/>
              </a:lnSpc>
              <a:spcBef>
                <a:spcPct val="0"/>
              </a:spcBef>
            </a:pPr>
          </a:p>
        </p:txBody>
      </p:sp>
      <p:sp>
        <p:nvSpPr>
          <p:cNvPr name="TextBox 11" id="11"/>
          <p:cNvSpPr txBox="true"/>
          <p:nvPr/>
        </p:nvSpPr>
        <p:spPr>
          <a:xfrm rot="0">
            <a:off x="1028700" y="6224076"/>
            <a:ext cx="7257079" cy="533400"/>
          </a:xfrm>
          <a:prstGeom prst="rect">
            <a:avLst/>
          </a:prstGeom>
        </p:spPr>
        <p:txBody>
          <a:bodyPr anchor="t" rtlCol="false" tIns="0" lIns="0" bIns="0" rIns="0">
            <a:spAutoFit/>
          </a:bodyPr>
          <a:lstStyle/>
          <a:p>
            <a:pPr algn="l">
              <a:lnSpc>
                <a:spcPts val="4200"/>
              </a:lnSpc>
              <a:spcBef>
                <a:spcPct val="0"/>
              </a:spcBef>
            </a:pPr>
            <a:r>
              <a:rPr lang="en-US" b="true" sz="3000">
                <a:solidFill>
                  <a:srgbClr val="5B2501"/>
                </a:solidFill>
                <a:latin typeface="Work Sans Bold"/>
                <a:ea typeface="Work Sans Bold"/>
                <a:cs typeface="Work Sans Bold"/>
                <a:sym typeface="Work Sans Bold"/>
              </a:rPr>
              <a:t>07. CSV Export System</a:t>
            </a:r>
          </a:p>
        </p:txBody>
      </p:sp>
      <p:sp>
        <p:nvSpPr>
          <p:cNvPr name="TextBox 12" id="12"/>
          <p:cNvSpPr txBox="true"/>
          <p:nvPr/>
        </p:nvSpPr>
        <p:spPr>
          <a:xfrm rot="0">
            <a:off x="1124678" y="7081326"/>
            <a:ext cx="6353467" cy="8096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Librarians can download a full report of library activities into a CSV file for professional record-keeping. </a:t>
            </a:r>
          </a:p>
          <a:p>
            <a:pPr algn="l">
              <a:lnSpc>
                <a:spcPts val="210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5708" y="-1961949"/>
            <a:ext cx="8583471" cy="4712252"/>
            <a:chOff x="0" y="0"/>
            <a:chExt cx="2260667" cy="1241087"/>
          </a:xfrm>
        </p:grpSpPr>
        <p:sp>
          <p:nvSpPr>
            <p:cNvPr name="Freeform 3" id="3"/>
            <p:cNvSpPr/>
            <p:nvPr/>
          </p:nvSpPr>
          <p:spPr>
            <a:xfrm flipH="false" flipV="false" rot="0">
              <a:off x="0" y="0"/>
              <a:ext cx="2260667" cy="1241087"/>
            </a:xfrm>
            <a:custGeom>
              <a:avLst/>
              <a:gdLst/>
              <a:ahLst/>
              <a:cxnLst/>
              <a:rect r="r" b="b" t="t" l="l"/>
              <a:pathLst>
                <a:path h="1241087" w="2260667">
                  <a:moveTo>
                    <a:pt x="63137" y="0"/>
                  </a:moveTo>
                  <a:lnTo>
                    <a:pt x="2197530" y="0"/>
                  </a:lnTo>
                  <a:cubicBezTo>
                    <a:pt x="2214275" y="0"/>
                    <a:pt x="2230334" y="6652"/>
                    <a:pt x="2242175" y="18492"/>
                  </a:cubicBezTo>
                  <a:cubicBezTo>
                    <a:pt x="2254015" y="30333"/>
                    <a:pt x="2260667" y="46392"/>
                    <a:pt x="2260667" y="63137"/>
                  </a:cubicBezTo>
                  <a:lnTo>
                    <a:pt x="2260667" y="1177950"/>
                  </a:lnTo>
                  <a:cubicBezTo>
                    <a:pt x="2260667" y="1194695"/>
                    <a:pt x="2254015" y="1210754"/>
                    <a:pt x="2242175" y="1222595"/>
                  </a:cubicBezTo>
                  <a:cubicBezTo>
                    <a:pt x="2230334" y="1234435"/>
                    <a:pt x="2214275" y="1241087"/>
                    <a:pt x="2197530" y="1241087"/>
                  </a:cubicBezTo>
                  <a:lnTo>
                    <a:pt x="63137" y="1241087"/>
                  </a:lnTo>
                  <a:cubicBezTo>
                    <a:pt x="46392" y="1241087"/>
                    <a:pt x="30333" y="1234435"/>
                    <a:pt x="18492" y="1222595"/>
                  </a:cubicBezTo>
                  <a:cubicBezTo>
                    <a:pt x="6652" y="1210754"/>
                    <a:pt x="0" y="1194695"/>
                    <a:pt x="0" y="1177950"/>
                  </a:cubicBezTo>
                  <a:lnTo>
                    <a:pt x="0" y="63137"/>
                  </a:lnTo>
                  <a:cubicBezTo>
                    <a:pt x="0" y="46392"/>
                    <a:pt x="6652" y="30333"/>
                    <a:pt x="18492" y="18492"/>
                  </a:cubicBezTo>
                  <a:cubicBezTo>
                    <a:pt x="30333" y="6652"/>
                    <a:pt x="46392" y="0"/>
                    <a:pt x="63137" y="0"/>
                  </a:cubicBezTo>
                  <a:close/>
                </a:path>
              </a:pathLst>
            </a:custGeom>
            <a:solidFill>
              <a:srgbClr val="5B2501"/>
            </a:solidFill>
          </p:spPr>
        </p:sp>
        <p:sp>
          <p:nvSpPr>
            <p:cNvPr name="TextBox 4" id="4"/>
            <p:cNvSpPr txBox="true"/>
            <p:nvPr/>
          </p:nvSpPr>
          <p:spPr>
            <a:xfrm>
              <a:off x="0" y="-47625"/>
              <a:ext cx="2260667" cy="1288712"/>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008733" y="494994"/>
            <a:ext cx="3504187" cy="332740"/>
          </a:xfrm>
          <a:prstGeom prst="rect">
            <a:avLst/>
          </a:prstGeom>
        </p:spPr>
        <p:txBody>
          <a:bodyPr anchor="t" rtlCol="false" tIns="0" lIns="0" bIns="0" rIns="0">
            <a:spAutoFit/>
          </a:bodyPr>
          <a:lstStyle/>
          <a:p>
            <a:pPr algn="r">
              <a:lnSpc>
                <a:spcPts val="2659"/>
              </a:lnSpc>
              <a:spcBef>
                <a:spcPct val="0"/>
              </a:spcBef>
            </a:pPr>
            <a:r>
              <a:rPr lang="en-US" b="true" sz="1899">
                <a:solidFill>
                  <a:srgbClr val="FFFFFF"/>
                </a:solidFill>
                <a:latin typeface="Work Sans Bold"/>
                <a:ea typeface="Work Sans Bold"/>
                <a:cs typeface="Work Sans Bold"/>
                <a:sym typeface="Work Sans Bold"/>
              </a:rPr>
              <a:t>Library Management System </a:t>
            </a:r>
          </a:p>
        </p:txBody>
      </p:sp>
      <p:sp>
        <p:nvSpPr>
          <p:cNvPr name="TextBox 7" id="7"/>
          <p:cNvSpPr txBox="true"/>
          <p:nvPr/>
        </p:nvSpPr>
        <p:spPr>
          <a:xfrm rot="0">
            <a:off x="372147" y="437844"/>
            <a:ext cx="10112023" cy="2879725"/>
          </a:xfrm>
          <a:prstGeom prst="rect">
            <a:avLst/>
          </a:prstGeom>
        </p:spPr>
        <p:txBody>
          <a:bodyPr anchor="t" rtlCol="false" tIns="0" lIns="0" bIns="0" rIns="0">
            <a:spAutoFit/>
          </a:bodyPr>
          <a:lstStyle/>
          <a:p>
            <a:pPr algn="l">
              <a:lnSpc>
                <a:spcPts val="7699"/>
              </a:lnSpc>
            </a:pPr>
            <a:r>
              <a:rPr lang="en-US" sz="5499" b="true">
                <a:solidFill>
                  <a:srgbClr val="5B2501"/>
                </a:solidFill>
                <a:latin typeface="Playfair Display Bold"/>
                <a:ea typeface="Playfair Display Bold"/>
                <a:cs typeface="Playfair Display Bold"/>
                <a:sym typeface="Playfair Display Bold"/>
              </a:rPr>
              <a:t>DSA Concepts and Their Applications</a:t>
            </a:r>
          </a:p>
          <a:p>
            <a:pPr algn="l">
              <a:lnSpc>
                <a:spcPts val="7699"/>
              </a:lnSpc>
              <a:spcBef>
                <a:spcPct val="0"/>
              </a:spcBef>
            </a:pPr>
          </a:p>
        </p:txBody>
      </p:sp>
      <p:sp>
        <p:nvSpPr>
          <p:cNvPr name="TextBox 8" id="8"/>
          <p:cNvSpPr txBox="true"/>
          <p:nvPr/>
        </p:nvSpPr>
        <p:spPr>
          <a:xfrm rot="0">
            <a:off x="372147" y="2858147"/>
            <a:ext cx="7593416" cy="880745"/>
          </a:xfrm>
          <a:prstGeom prst="rect">
            <a:avLst/>
          </a:prstGeom>
        </p:spPr>
        <p:txBody>
          <a:bodyPr anchor="t" rtlCol="false" tIns="0" lIns="0" bIns="0" rIns="0">
            <a:spAutoFit/>
          </a:bodyPr>
          <a:lstStyle/>
          <a:p>
            <a:pPr algn="l">
              <a:lnSpc>
                <a:spcPts val="2379"/>
              </a:lnSpc>
              <a:spcBef>
                <a:spcPct val="0"/>
              </a:spcBef>
            </a:pPr>
            <a:r>
              <a:rPr lang="en-US" sz="1699">
                <a:solidFill>
                  <a:srgbClr val="000000"/>
                </a:solidFill>
                <a:latin typeface="Work Sans"/>
                <a:ea typeface="Work Sans"/>
                <a:cs typeface="Work Sans"/>
                <a:sym typeface="Work Sans"/>
              </a:rPr>
              <a:t>The application is heavily driven by custom-implemented Data Structures and Algorithms to manage state efficiently. Here is where and how each concept is used in script.js:</a:t>
            </a:r>
          </a:p>
        </p:txBody>
      </p:sp>
      <p:grpSp>
        <p:nvGrpSpPr>
          <p:cNvPr name="Group 9" id="9"/>
          <p:cNvGrpSpPr/>
          <p:nvPr/>
        </p:nvGrpSpPr>
        <p:grpSpPr>
          <a:xfrm rot="0">
            <a:off x="372147" y="4240001"/>
            <a:ext cx="6122602" cy="831850"/>
            <a:chOff x="0" y="0"/>
            <a:chExt cx="2180184" cy="296212"/>
          </a:xfrm>
        </p:grpSpPr>
        <p:sp>
          <p:nvSpPr>
            <p:cNvPr name="Freeform 10" id="10"/>
            <p:cNvSpPr/>
            <p:nvPr/>
          </p:nvSpPr>
          <p:spPr>
            <a:xfrm flipH="false" flipV="false" rot="0">
              <a:off x="0" y="0"/>
              <a:ext cx="2180184" cy="296212"/>
            </a:xfrm>
            <a:custGeom>
              <a:avLst/>
              <a:gdLst/>
              <a:ahLst/>
              <a:cxnLst/>
              <a:rect r="r" b="b" t="t" l="l"/>
              <a:pathLst>
                <a:path h="296212" w="2180184">
                  <a:moveTo>
                    <a:pt x="126448" y="0"/>
                  </a:moveTo>
                  <a:lnTo>
                    <a:pt x="2053736" y="0"/>
                  </a:lnTo>
                  <a:cubicBezTo>
                    <a:pt x="2123572" y="0"/>
                    <a:pt x="2180184" y="56613"/>
                    <a:pt x="2180184" y="126448"/>
                  </a:cubicBezTo>
                  <a:lnTo>
                    <a:pt x="2180184" y="169764"/>
                  </a:lnTo>
                  <a:cubicBezTo>
                    <a:pt x="2180184" y="203300"/>
                    <a:pt x="2166862" y="235462"/>
                    <a:pt x="2143149" y="259176"/>
                  </a:cubicBezTo>
                  <a:cubicBezTo>
                    <a:pt x="2119435" y="282890"/>
                    <a:pt x="2087272" y="296212"/>
                    <a:pt x="2053736" y="296212"/>
                  </a:cubicBezTo>
                  <a:lnTo>
                    <a:pt x="126448" y="296212"/>
                  </a:lnTo>
                  <a:cubicBezTo>
                    <a:pt x="92912" y="296212"/>
                    <a:pt x="60749" y="282890"/>
                    <a:pt x="37036" y="259176"/>
                  </a:cubicBezTo>
                  <a:cubicBezTo>
                    <a:pt x="13322" y="235462"/>
                    <a:pt x="0" y="203300"/>
                    <a:pt x="0" y="169764"/>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1" id="11"/>
            <p:cNvSpPr txBox="true"/>
            <p:nvPr/>
          </p:nvSpPr>
          <p:spPr>
            <a:xfrm>
              <a:off x="0" y="-57150"/>
              <a:ext cx="2180184" cy="353362"/>
            </a:xfrm>
            <a:prstGeom prst="rect">
              <a:avLst/>
            </a:prstGeom>
          </p:spPr>
          <p:txBody>
            <a:bodyPr anchor="ctr" rtlCol="false" tIns="37573" lIns="37573" bIns="37573" rIns="37573"/>
            <a:lstStyle/>
            <a:p>
              <a:pPr algn="ctr">
                <a:lnSpc>
                  <a:spcPts val="2519"/>
                </a:lnSpc>
              </a:pPr>
            </a:p>
            <a:p>
              <a:pPr algn="ctr">
                <a:lnSpc>
                  <a:spcPts val="2519"/>
                </a:lnSpc>
              </a:pPr>
            </a:p>
          </p:txBody>
        </p:sp>
      </p:grpSp>
      <p:sp>
        <p:nvSpPr>
          <p:cNvPr name="TextBox 12" id="12"/>
          <p:cNvSpPr txBox="true"/>
          <p:nvPr/>
        </p:nvSpPr>
        <p:spPr>
          <a:xfrm rot="0">
            <a:off x="372147" y="5408381"/>
            <a:ext cx="7462105" cy="2964180"/>
          </a:xfrm>
          <a:prstGeom prst="rect">
            <a:avLst/>
          </a:prstGeom>
        </p:spPr>
        <p:txBody>
          <a:bodyPr anchor="t" rtlCol="false" tIns="0" lIns="0" bIns="0" rIns="0">
            <a:spAutoFit/>
          </a:bodyPr>
          <a:lstStyle/>
          <a:p>
            <a:pPr algn="l">
              <a:lnSpc>
                <a:spcPts val="2659"/>
              </a:lnSpc>
              <a:spcBef>
                <a:spcPct val="0"/>
              </a:spcBef>
            </a:pPr>
            <a:r>
              <a:rPr lang="en-US" b="true" sz="1899">
                <a:solidFill>
                  <a:srgbClr val="5E3516"/>
                </a:solidFill>
                <a:latin typeface="Work Sans Bold"/>
                <a:ea typeface="Work Sans Bold"/>
                <a:cs typeface="Work Sans Bold"/>
                <a:sym typeface="Work Sans Bold"/>
              </a:rPr>
              <a:t>W</a:t>
            </a:r>
            <a:r>
              <a:rPr lang="en-US" b="true" sz="1899">
                <a:solidFill>
                  <a:srgbClr val="5E3516"/>
                </a:solidFill>
                <a:latin typeface="Work Sans Bold"/>
                <a:ea typeface="Work Sans Bold"/>
                <a:cs typeface="Work Sans Bold"/>
                <a:sym typeface="Work Sans Bold"/>
              </a:rPr>
              <a:t>here it's used</a:t>
            </a:r>
            <a:r>
              <a:rPr lang="en-US" sz="1899">
                <a:solidFill>
                  <a:srgbClr val="000000"/>
                </a:solidFill>
                <a:latin typeface="Work Sans"/>
                <a:ea typeface="Work Sans"/>
                <a:cs typeface="Work Sans"/>
                <a:sym typeface="Work Sans"/>
              </a:rPr>
              <a:t>: bookDatabase and memberDatabase</a:t>
            </a:r>
          </a:p>
          <a:p>
            <a:pPr algn="l">
              <a:lnSpc>
                <a:spcPts val="2659"/>
              </a:lnSpc>
              <a:spcBef>
                <a:spcPct val="0"/>
              </a:spcBef>
            </a:pPr>
          </a:p>
          <a:p>
            <a:pPr algn="l">
              <a:lnSpc>
                <a:spcPts val="2659"/>
              </a:lnSpc>
              <a:spcBef>
                <a:spcPct val="0"/>
              </a:spcBef>
            </a:pPr>
            <a:r>
              <a:rPr lang="en-US" b="true" sz="1899">
                <a:solidFill>
                  <a:srgbClr val="5B2501"/>
                </a:solidFill>
                <a:latin typeface="Work Sans Bold"/>
                <a:ea typeface="Work Sans Bold"/>
                <a:cs typeface="Work Sans Bold"/>
                <a:sym typeface="Work Sans Bold"/>
              </a:rPr>
              <a:t>Why:</a:t>
            </a:r>
            <a:r>
              <a:rPr lang="en-US" sz="1899">
                <a:solidFill>
                  <a:srgbClr val="000000"/>
                </a:solidFill>
                <a:latin typeface="Work Sans"/>
                <a:ea typeface="Work Sans"/>
                <a:cs typeface="Work Sans"/>
                <a:sym typeface="Work Sans"/>
              </a:rPr>
              <a:t> Used for the primary databases to store and retrieve book and member objects by their unique IDs. It calculates a hash from the ID to find the correct index in an array, allowing for near O(1) fast lookups. It uses nested arrays inside buckets to handle potential hash collisions.</a:t>
            </a:r>
          </a:p>
          <a:p>
            <a:pPr algn="l">
              <a:lnSpc>
                <a:spcPts val="2659"/>
              </a:lnSpc>
              <a:spcBef>
                <a:spcPct val="0"/>
              </a:spcBef>
            </a:pPr>
          </a:p>
          <a:p>
            <a:pPr algn="l">
              <a:lnSpc>
                <a:spcPts val="2379"/>
              </a:lnSpc>
              <a:spcBef>
                <a:spcPct val="0"/>
              </a:spcBef>
            </a:pPr>
          </a:p>
        </p:txBody>
      </p:sp>
      <p:sp>
        <p:nvSpPr>
          <p:cNvPr name="TextBox 13" id="13"/>
          <p:cNvSpPr txBox="true"/>
          <p:nvPr/>
        </p:nvSpPr>
        <p:spPr>
          <a:xfrm rot="0">
            <a:off x="843721" y="4442330"/>
            <a:ext cx="5042690"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Hash Tables (with Separate Chaining)</a:t>
            </a:r>
          </a:p>
          <a:p>
            <a:pPr algn="l">
              <a:lnSpc>
                <a:spcPts val="2446"/>
              </a:lnSpc>
              <a:spcBef>
                <a:spcPct val="0"/>
              </a:spcBef>
            </a:pPr>
          </a:p>
        </p:txBody>
      </p:sp>
      <p:grpSp>
        <p:nvGrpSpPr>
          <p:cNvPr name="Group 14" id="14"/>
          <p:cNvGrpSpPr/>
          <p:nvPr/>
        </p:nvGrpSpPr>
        <p:grpSpPr>
          <a:xfrm rot="0">
            <a:off x="10390318" y="4240001"/>
            <a:ext cx="6122602" cy="858720"/>
            <a:chOff x="0" y="0"/>
            <a:chExt cx="2180184" cy="305780"/>
          </a:xfrm>
        </p:grpSpPr>
        <p:sp>
          <p:nvSpPr>
            <p:cNvPr name="Freeform 15" id="15"/>
            <p:cNvSpPr/>
            <p:nvPr/>
          </p:nvSpPr>
          <p:spPr>
            <a:xfrm flipH="false" flipV="false" rot="0">
              <a:off x="0" y="0"/>
              <a:ext cx="2180184" cy="305780"/>
            </a:xfrm>
            <a:custGeom>
              <a:avLst/>
              <a:gdLst/>
              <a:ahLst/>
              <a:cxnLst/>
              <a:rect r="r" b="b" t="t" l="l"/>
              <a:pathLst>
                <a:path h="305780" w="2180184">
                  <a:moveTo>
                    <a:pt x="126448" y="0"/>
                  </a:moveTo>
                  <a:lnTo>
                    <a:pt x="2053736" y="0"/>
                  </a:lnTo>
                  <a:cubicBezTo>
                    <a:pt x="2123572" y="0"/>
                    <a:pt x="2180184" y="56613"/>
                    <a:pt x="2180184" y="126448"/>
                  </a:cubicBezTo>
                  <a:lnTo>
                    <a:pt x="2180184" y="179332"/>
                  </a:lnTo>
                  <a:cubicBezTo>
                    <a:pt x="2180184" y="212868"/>
                    <a:pt x="2166862" y="245030"/>
                    <a:pt x="2143149" y="268744"/>
                  </a:cubicBezTo>
                  <a:cubicBezTo>
                    <a:pt x="2119435" y="292458"/>
                    <a:pt x="2087272" y="305780"/>
                    <a:pt x="2053736" y="305780"/>
                  </a:cubicBezTo>
                  <a:lnTo>
                    <a:pt x="126448" y="305780"/>
                  </a:lnTo>
                  <a:cubicBezTo>
                    <a:pt x="92912" y="305780"/>
                    <a:pt x="60749" y="292458"/>
                    <a:pt x="37036" y="268744"/>
                  </a:cubicBezTo>
                  <a:cubicBezTo>
                    <a:pt x="13322" y="245030"/>
                    <a:pt x="0" y="212868"/>
                    <a:pt x="0" y="179332"/>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6" id="16"/>
            <p:cNvSpPr txBox="true"/>
            <p:nvPr/>
          </p:nvSpPr>
          <p:spPr>
            <a:xfrm>
              <a:off x="0" y="-57150"/>
              <a:ext cx="2180184" cy="362930"/>
            </a:xfrm>
            <a:prstGeom prst="rect">
              <a:avLst/>
            </a:prstGeom>
          </p:spPr>
          <p:txBody>
            <a:bodyPr anchor="ctr" rtlCol="false" tIns="37573" lIns="37573" bIns="37573" rIns="37573"/>
            <a:lstStyle/>
            <a:p>
              <a:pPr algn="ctr">
                <a:lnSpc>
                  <a:spcPts val="2799"/>
                </a:lnSpc>
              </a:pPr>
            </a:p>
            <a:p>
              <a:pPr algn="ctr">
                <a:lnSpc>
                  <a:spcPts val="2519"/>
                </a:lnSpc>
              </a:pPr>
            </a:p>
          </p:txBody>
        </p:sp>
      </p:grpSp>
      <p:sp>
        <p:nvSpPr>
          <p:cNvPr name="TextBox 17" id="17"/>
          <p:cNvSpPr txBox="true"/>
          <p:nvPr/>
        </p:nvSpPr>
        <p:spPr>
          <a:xfrm rot="0">
            <a:off x="10390318" y="5408381"/>
            <a:ext cx="7462105" cy="2964180"/>
          </a:xfrm>
          <a:prstGeom prst="rect">
            <a:avLst/>
          </a:prstGeom>
        </p:spPr>
        <p:txBody>
          <a:bodyPr anchor="t" rtlCol="false" tIns="0" lIns="0" bIns="0" rIns="0">
            <a:spAutoFit/>
          </a:bodyPr>
          <a:lstStyle/>
          <a:p>
            <a:pPr algn="l">
              <a:lnSpc>
                <a:spcPts val="2659"/>
              </a:lnSpc>
              <a:spcBef>
                <a:spcPct val="0"/>
              </a:spcBef>
            </a:pPr>
            <a:r>
              <a:rPr lang="en-US" b="true" sz="1899">
                <a:solidFill>
                  <a:srgbClr val="5E3516"/>
                </a:solidFill>
                <a:latin typeface="Work Sans Bold"/>
                <a:ea typeface="Work Sans Bold"/>
                <a:cs typeface="Work Sans Bold"/>
                <a:sym typeface="Work Sans Bold"/>
              </a:rPr>
              <a:t>W</a:t>
            </a:r>
            <a:r>
              <a:rPr lang="en-US" b="true" sz="1899">
                <a:solidFill>
                  <a:srgbClr val="5E3516"/>
                </a:solidFill>
                <a:latin typeface="Work Sans Bold"/>
                <a:ea typeface="Work Sans Bold"/>
                <a:cs typeface="Work Sans Bold"/>
                <a:sym typeface="Work Sans Bold"/>
              </a:rPr>
              <a:t>here it's used</a:t>
            </a:r>
            <a:r>
              <a:rPr lang="en-US" sz="1899">
                <a:solidFill>
                  <a:srgbClr val="000000"/>
                </a:solidFill>
                <a:latin typeface="Work Sans"/>
                <a:ea typeface="Work Sans"/>
                <a:cs typeface="Work Sans"/>
                <a:sym typeface="Work Sans"/>
              </a:rPr>
              <a:t>: activityLogs</a:t>
            </a:r>
          </a:p>
          <a:p>
            <a:pPr algn="l">
              <a:lnSpc>
                <a:spcPts val="2659"/>
              </a:lnSpc>
              <a:spcBef>
                <a:spcPct val="0"/>
              </a:spcBef>
            </a:pPr>
          </a:p>
          <a:p>
            <a:pPr algn="l">
              <a:lnSpc>
                <a:spcPts val="2659"/>
              </a:lnSpc>
              <a:spcBef>
                <a:spcPct val="0"/>
              </a:spcBef>
            </a:pPr>
            <a:r>
              <a:rPr lang="en-US" b="true" sz="1899">
                <a:solidFill>
                  <a:srgbClr val="5B2501"/>
                </a:solidFill>
                <a:latin typeface="Work Sans Bold"/>
                <a:ea typeface="Work Sans Bold"/>
                <a:cs typeface="Work Sans Bold"/>
                <a:sym typeface="Work Sans Bold"/>
              </a:rPr>
              <a:t>Why:</a:t>
            </a:r>
            <a:r>
              <a:rPr lang="en-US" sz="1899">
                <a:solidFill>
                  <a:srgbClr val="000000"/>
                </a:solidFill>
                <a:latin typeface="Work Sans"/>
                <a:ea typeface="Work Sans"/>
                <a:cs typeface="Work Sans"/>
                <a:sym typeface="Work Sans"/>
              </a:rPr>
              <a:t> Used to maintain the ongoing history of system activities. Every time an action occurs, a new node is created and prepended to the head of the list (addNodeAtStart). This allows for O(1) insertion time for new logs without having to shift array elements.</a:t>
            </a:r>
          </a:p>
          <a:p>
            <a:pPr algn="l">
              <a:lnSpc>
                <a:spcPts val="2659"/>
              </a:lnSpc>
              <a:spcBef>
                <a:spcPct val="0"/>
              </a:spcBef>
            </a:pPr>
          </a:p>
          <a:p>
            <a:pPr algn="l">
              <a:lnSpc>
                <a:spcPts val="2379"/>
              </a:lnSpc>
              <a:spcBef>
                <a:spcPct val="0"/>
              </a:spcBef>
            </a:pPr>
          </a:p>
        </p:txBody>
      </p:sp>
      <p:sp>
        <p:nvSpPr>
          <p:cNvPr name="TextBox 18" id="18"/>
          <p:cNvSpPr txBox="true"/>
          <p:nvPr/>
        </p:nvSpPr>
        <p:spPr>
          <a:xfrm rot="0">
            <a:off x="12392198" y="4406769"/>
            <a:ext cx="2118843"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Linked Lists</a:t>
            </a:r>
          </a:p>
          <a:p>
            <a:pPr algn="l">
              <a:lnSpc>
                <a:spcPts val="244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5708" y="-1961949"/>
            <a:ext cx="8583471" cy="4712252"/>
            <a:chOff x="0" y="0"/>
            <a:chExt cx="2260667" cy="1241087"/>
          </a:xfrm>
        </p:grpSpPr>
        <p:sp>
          <p:nvSpPr>
            <p:cNvPr name="Freeform 3" id="3"/>
            <p:cNvSpPr/>
            <p:nvPr/>
          </p:nvSpPr>
          <p:spPr>
            <a:xfrm flipH="false" flipV="false" rot="0">
              <a:off x="0" y="0"/>
              <a:ext cx="2260667" cy="1241087"/>
            </a:xfrm>
            <a:custGeom>
              <a:avLst/>
              <a:gdLst/>
              <a:ahLst/>
              <a:cxnLst/>
              <a:rect r="r" b="b" t="t" l="l"/>
              <a:pathLst>
                <a:path h="1241087" w="2260667">
                  <a:moveTo>
                    <a:pt x="63137" y="0"/>
                  </a:moveTo>
                  <a:lnTo>
                    <a:pt x="2197530" y="0"/>
                  </a:lnTo>
                  <a:cubicBezTo>
                    <a:pt x="2214275" y="0"/>
                    <a:pt x="2230334" y="6652"/>
                    <a:pt x="2242175" y="18492"/>
                  </a:cubicBezTo>
                  <a:cubicBezTo>
                    <a:pt x="2254015" y="30333"/>
                    <a:pt x="2260667" y="46392"/>
                    <a:pt x="2260667" y="63137"/>
                  </a:cubicBezTo>
                  <a:lnTo>
                    <a:pt x="2260667" y="1177950"/>
                  </a:lnTo>
                  <a:cubicBezTo>
                    <a:pt x="2260667" y="1194695"/>
                    <a:pt x="2254015" y="1210754"/>
                    <a:pt x="2242175" y="1222595"/>
                  </a:cubicBezTo>
                  <a:cubicBezTo>
                    <a:pt x="2230334" y="1234435"/>
                    <a:pt x="2214275" y="1241087"/>
                    <a:pt x="2197530" y="1241087"/>
                  </a:cubicBezTo>
                  <a:lnTo>
                    <a:pt x="63137" y="1241087"/>
                  </a:lnTo>
                  <a:cubicBezTo>
                    <a:pt x="46392" y="1241087"/>
                    <a:pt x="30333" y="1234435"/>
                    <a:pt x="18492" y="1222595"/>
                  </a:cubicBezTo>
                  <a:cubicBezTo>
                    <a:pt x="6652" y="1210754"/>
                    <a:pt x="0" y="1194695"/>
                    <a:pt x="0" y="1177950"/>
                  </a:cubicBezTo>
                  <a:lnTo>
                    <a:pt x="0" y="63137"/>
                  </a:lnTo>
                  <a:cubicBezTo>
                    <a:pt x="0" y="46392"/>
                    <a:pt x="6652" y="30333"/>
                    <a:pt x="18492" y="18492"/>
                  </a:cubicBezTo>
                  <a:cubicBezTo>
                    <a:pt x="30333" y="6652"/>
                    <a:pt x="46392" y="0"/>
                    <a:pt x="63137" y="0"/>
                  </a:cubicBezTo>
                  <a:close/>
                </a:path>
              </a:pathLst>
            </a:custGeom>
            <a:solidFill>
              <a:srgbClr val="5B2501"/>
            </a:solidFill>
          </p:spPr>
        </p:sp>
        <p:sp>
          <p:nvSpPr>
            <p:cNvPr name="TextBox 4" id="4"/>
            <p:cNvSpPr txBox="true"/>
            <p:nvPr/>
          </p:nvSpPr>
          <p:spPr>
            <a:xfrm>
              <a:off x="0" y="-47625"/>
              <a:ext cx="2260667" cy="1288712"/>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008733" y="494994"/>
            <a:ext cx="3504187" cy="332740"/>
          </a:xfrm>
          <a:prstGeom prst="rect">
            <a:avLst/>
          </a:prstGeom>
        </p:spPr>
        <p:txBody>
          <a:bodyPr anchor="t" rtlCol="false" tIns="0" lIns="0" bIns="0" rIns="0">
            <a:spAutoFit/>
          </a:bodyPr>
          <a:lstStyle/>
          <a:p>
            <a:pPr algn="r">
              <a:lnSpc>
                <a:spcPts val="2659"/>
              </a:lnSpc>
              <a:spcBef>
                <a:spcPct val="0"/>
              </a:spcBef>
            </a:pPr>
            <a:r>
              <a:rPr lang="en-US" b="true" sz="1899">
                <a:solidFill>
                  <a:srgbClr val="FFFFFF"/>
                </a:solidFill>
                <a:latin typeface="Work Sans Bold"/>
                <a:ea typeface="Work Sans Bold"/>
                <a:cs typeface="Work Sans Bold"/>
                <a:sym typeface="Work Sans Bold"/>
              </a:rPr>
              <a:t>Library Management System </a:t>
            </a:r>
          </a:p>
        </p:txBody>
      </p:sp>
      <p:sp>
        <p:nvSpPr>
          <p:cNvPr name="TextBox 7" id="7"/>
          <p:cNvSpPr txBox="true"/>
          <p:nvPr/>
        </p:nvSpPr>
        <p:spPr>
          <a:xfrm rot="0">
            <a:off x="372147" y="437844"/>
            <a:ext cx="10112023" cy="2879725"/>
          </a:xfrm>
          <a:prstGeom prst="rect">
            <a:avLst/>
          </a:prstGeom>
        </p:spPr>
        <p:txBody>
          <a:bodyPr anchor="t" rtlCol="false" tIns="0" lIns="0" bIns="0" rIns="0">
            <a:spAutoFit/>
          </a:bodyPr>
          <a:lstStyle/>
          <a:p>
            <a:pPr algn="l">
              <a:lnSpc>
                <a:spcPts val="7699"/>
              </a:lnSpc>
            </a:pPr>
            <a:r>
              <a:rPr lang="en-US" sz="5499" b="true">
                <a:solidFill>
                  <a:srgbClr val="5B2501"/>
                </a:solidFill>
                <a:latin typeface="Playfair Display Bold"/>
                <a:ea typeface="Playfair Display Bold"/>
                <a:cs typeface="Playfair Display Bold"/>
                <a:sym typeface="Playfair Display Bold"/>
              </a:rPr>
              <a:t>DSA Concepts and Their Applications</a:t>
            </a:r>
          </a:p>
          <a:p>
            <a:pPr algn="l">
              <a:lnSpc>
                <a:spcPts val="7699"/>
              </a:lnSpc>
              <a:spcBef>
                <a:spcPct val="0"/>
              </a:spcBef>
            </a:pPr>
          </a:p>
        </p:txBody>
      </p:sp>
      <p:sp>
        <p:nvSpPr>
          <p:cNvPr name="TextBox 8" id="8"/>
          <p:cNvSpPr txBox="true"/>
          <p:nvPr/>
        </p:nvSpPr>
        <p:spPr>
          <a:xfrm rot="0">
            <a:off x="372147" y="2858147"/>
            <a:ext cx="7593416" cy="880745"/>
          </a:xfrm>
          <a:prstGeom prst="rect">
            <a:avLst/>
          </a:prstGeom>
        </p:spPr>
        <p:txBody>
          <a:bodyPr anchor="t" rtlCol="false" tIns="0" lIns="0" bIns="0" rIns="0">
            <a:spAutoFit/>
          </a:bodyPr>
          <a:lstStyle/>
          <a:p>
            <a:pPr algn="l">
              <a:lnSpc>
                <a:spcPts val="2379"/>
              </a:lnSpc>
              <a:spcBef>
                <a:spcPct val="0"/>
              </a:spcBef>
            </a:pPr>
            <a:r>
              <a:rPr lang="en-US" sz="1699">
                <a:solidFill>
                  <a:srgbClr val="000000"/>
                </a:solidFill>
                <a:latin typeface="Work Sans"/>
                <a:ea typeface="Work Sans"/>
                <a:cs typeface="Work Sans"/>
                <a:sym typeface="Work Sans"/>
              </a:rPr>
              <a:t>The application is heavily driven by custom-implemented Data Structures and Algorithms to manage state efficiently. Here is where and how each concept is used in script.js:</a:t>
            </a:r>
          </a:p>
        </p:txBody>
      </p:sp>
      <p:grpSp>
        <p:nvGrpSpPr>
          <p:cNvPr name="Group 9" id="9"/>
          <p:cNvGrpSpPr/>
          <p:nvPr/>
        </p:nvGrpSpPr>
        <p:grpSpPr>
          <a:xfrm rot="0">
            <a:off x="372147" y="4240001"/>
            <a:ext cx="6122602" cy="831850"/>
            <a:chOff x="0" y="0"/>
            <a:chExt cx="2180184" cy="296212"/>
          </a:xfrm>
        </p:grpSpPr>
        <p:sp>
          <p:nvSpPr>
            <p:cNvPr name="Freeform 10" id="10"/>
            <p:cNvSpPr/>
            <p:nvPr/>
          </p:nvSpPr>
          <p:spPr>
            <a:xfrm flipH="false" flipV="false" rot="0">
              <a:off x="0" y="0"/>
              <a:ext cx="2180184" cy="296212"/>
            </a:xfrm>
            <a:custGeom>
              <a:avLst/>
              <a:gdLst/>
              <a:ahLst/>
              <a:cxnLst/>
              <a:rect r="r" b="b" t="t" l="l"/>
              <a:pathLst>
                <a:path h="296212" w="2180184">
                  <a:moveTo>
                    <a:pt x="126448" y="0"/>
                  </a:moveTo>
                  <a:lnTo>
                    <a:pt x="2053736" y="0"/>
                  </a:lnTo>
                  <a:cubicBezTo>
                    <a:pt x="2123572" y="0"/>
                    <a:pt x="2180184" y="56613"/>
                    <a:pt x="2180184" y="126448"/>
                  </a:cubicBezTo>
                  <a:lnTo>
                    <a:pt x="2180184" y="169764"/>
                  </a:lnTo>
                  <a:cubicBezTo>
                    <a:pt x="2180184" y="203300"/>
                    <a:pt x="2166862" y="235462"/>
                    <a:pt x="2143149" y="259176"/>
                  </a:cubicBezTo>
                  <a:cubicBezTo>
                    <a:pt x="2119435" y="282890"/>
                    <a:pt x="2087272" y="296212"/>
                    <a:pt x="2053736" y="296212"/>
                  </a:cubicBezTo>
                  <a:lnTo>
                    <a:pt x="126448" y="296212"/>
                  </a:lnTo>
                  <a:cubicBezTo>
                    <a:pt x="92912" y="296212"/>
                    <a:pt x="60749" y="282890"/>
                    <a:pt x="37036" y="259176"/>
                  </a:cubicBezTo>
                  <a:cubicBezTo>
                    <a:pt x="13322" y="235462"/>
                    <a:pt x="0" y="203300"/>
                    <a:pt x="0" y="169764"/>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1" id="11"/>
            <p:cNvSpPr txBox="true"/>
            <p:nvPr/>
          </p:nvSpPr>
          <p:spPr>
            <a:xfrm>
              <a:off x="0" y="-57150"/>
              <a:ext cx="2180184" cy="353362"/>
            </a:xfrm>
            <a:prstGeom prst="rect">
              <a:avLst/>
            </a:prstGeom>
          </p:spPr>
          <p:txBody>
            <a:bodyPr anchor="ctr" rtlCol="false" tIns="37573" lIns="37573" bIns="37573" rIns="37573"/>
            <a:lstStyle/>
            <a:p>
              <a:pPr algn="ctr">
                <a:lnSpc>
                  <a:spcPts val="2519"/>
                </a:lnSpc>
              </a:pPr>
            </a:p>
            <a:p>
              <a:pPr algn="ctr">
                <a:lnSpc>
                  <a:spcPts val="2519"/>
                </a:lnSpc>
              </a:pPr>
            </a:p>
          </p:txBody>
        </p:sp>
      </p:grpSp>
      <p:sp>
        <p:nvSpPr>
          <p:cNvPr name="TextBox 12" id="12"/>
          <p:cNvSpPr txBox="true"/>
          <p:nvPr/>
        </p:nvSpPr>
        <p:spPr>
          <a:xfrm rot="0">
            <a:off x="372147" y="5408381"/>
            <a:ext cx="7462105" cy="3297555"/>
          </a:xfrm>
          <a:prstGeom prst="rect">
            <a:avLst/>
          </a:prstGeom>
        </p:spPr>
        <p:txBody>
          <a:bodyPr anchor="t" rtlCol="false" tIns="0" lIns="0" bIns="0" rIns="0">
            <a:spAutoFit/>
          </a:bodyPr>
          <a:lstStyle/>
          <a:p>
            <a:pPr algn="l">
              <a:lnSpc>
                <a:spcPts val="2659"/>
              </a:lnSpc>
              <a:spcBef>
                <a:spcPct val="0"/>
              </a:spcBef>
            </a:pPr>
            <a:r>
              <a:rPr lang="en-US" b="true" sz="1899">
                <a:solidFill>
                  <a:srgbClr val="5E3516"/>
                </a:solidFill>
                <a:latin typeface="Work Sans Bold"/>
                <a:ea typeface="Work Sans Bold"/>
                <a:cs typeface="Work Sans Bold"/>
                <a:sym typeface="Work Sans Bold"/>
              </a:rPr>
              <a:t>W</a:t>
            </a:r>
            <a:r>
              <a:rPr lang="en-US" b="true" sz="1899">
                <a:solidFill>
                  <a:srgbClr val="5E3516"/>
                </a:solidFill>
                <a:latin typeface="Work Sans Bold"/>
                <a:ea typeface="Work Sans Bold"/>
                <a:cs typeface="Work Sans Bold"/>
                <a:sym typeface="Work Sans Bold"/>
              </a:rPr>
              <a:t>here it's used</a:t>
            </a:r>
            <a:r>
              <a:rPr lang="en-US" sz="1899">
                <a:solidFill>
                  <a:srgbClr val="000000"/>
                </a:solidFill>
                <a:latin typeface="Work Sans"/>
                <a:ea typeface="Work Sans"/>
                <a:cs typeface="Work Sans"/>
                <a:sym typeface="Work Sans"/>
              </a:rPr>
              <a:t>: The waitlist property on each Book object.</a:t>
            </a:r>
          </a:p>
          <a:p>
            <a:pPr algn="l">
              <a:lnSpc>
                <a:spcPts val="2659"/>
              </a:lnSpc>
              <a:spcBef>
                <a:spcPct val="0"/>
              </a:spcBef>
            </a:pPr>
          </a:p>
          <a:p>
            <a:pPr algn="l">
              <a:lnSpc>
                <a:spcPts val="2659"/>
              </a:lnSpc>
              <a:spcBef>
                <a:spcPct val="0"/>
              </a:spcBef>
            </a:pPr>
            <a:r>
              <a:rPr lang="en-US" b="true" sz="1899">
                <a:solidFill>
                  <a:srgbClr val="5B2501"/>
                </a:solidFill>
                <a:latin typeface="Work Sans Bold"/>
                <a:ea typeface="Work Sans Bold"/>
                <a:cs typeface="Work Sans Bold"/>
                <a:sym typeface="Work Sans Bold"/>
              </a:rPr>
              <a:t>Why:</a:t>
            </a:r>
            <a:r>
              <a:rPr lang="en-US" sz="1899">
                <a:solidFill>
                  <a:srgbClr val="000000"/>
                </a:solidFill>
                <a:latin typeface="Work Sans"/>
                <a:ea typeface="Work Sans"/>
                <a:cs typeface="Work Sans"/>
                <a:sym typeface="Work Sans"/>
              </a:rPr>
              <a:t> Used to manage members who want a book that is currently borrowed. It operates on a strict First-In-First-Out (FIFO) basis. Members are added (enqueued) to the rear, and the member at the front gets priority (dequeued) when the book is returned.</a:t>
            </a:r>
          </a:p>
          <a:p>
            <a:pPr algn="l">
              <a:lnSpc>
                <a:spcPts val="2659"/>
              </a:lnSpc>
              <a:spcBef>
                <a:spcPct val="0"/>
              </a:spcBef>
            </a:pPr>
          </a:p>
          <a:p>
            <a:pPr algn="l">
              <a:lnSpc>
                <a:spcPts val="2659"/>
              </a:lnSpc>
              <a:spcBef>
                <a:spcPct val="0"/>
              </a:spcBef>
            </a:pPr>
          </a:p>
          <a:p>
            <a:pPr algn="l">
              <a:lnSpc>
                <a:spcPts val="2379"/>
              </a:lnSpc>
              <a:spcBef>
                <a:spcPct val="0"/>
              </a:spcBef>
            </a:pPr>
          </a:p>
        </p:txBody>
      </p:sp>
      <p:sp>
        <p:nvSpPr>
          <p:cNvPr name="TextBox 13" id="13"/>
          <p:cNvSpPr txBox="true"/>
          <p:nvPr/>
        </p:nvSpPr>
        <p:spPr>
          <a:xfrm rot="0">
            <a:off x="2628777" y="4406769"/>
            <a:ext cx="2344682"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Queues</a:t>
            </a:r>
          </a:p>
          <a:p>
            <a:pPr algn="l">
              <a:lnSpc>
                <a:spcPts val="2446"/>
              </a:lnSpc>
              <a:spcBef>
                <a:spcPct val="0"/>
              </a:spcBef>
            </a:pPr>
          </a:p>
        </p:txBody>
      </p:sp>
      <p:grpSp>
        <p:nvGrpSpPr>
          <p:cNvPr name="Group 14" id="14"/>
          <p:cNvGrpSpPr/>
          <p:nvPr/>
        </p:nvGrpSpPr>
        <p:grpSpPr>
          <a:xfrm rot="0">
            <a:off x="10390318" y="4213131"/>
            <a:ext cx="6122602" cy="858720"/>
            <a:chOff x="0" y="0"/>
            <a:chExt cx="2180184" cy="305780"/>
          </a:xfrm>
        </p:grpSpPr>
        <p:sp>
          <p:nvSpPr>
            <p:cNvPr name="Freeform 15" id="15"/>
            <p:cNvSpPr/>
            <p:nvPr/>
          </p:nvSpPr>
          <p:spPr>
            <a:xfrm flipH="false" flipV="false" rot="0">
              <a:off x="0" y="0"/>
              <a:ext cx="2180184" cy="305780"/>
            </a:xfrm>
            <a:custGeom>
              <a:avLst/>
              <a:gdLst/>
              <a:ahLst/>
              <a:cxnLst/>
              <a:rect r="r" b="b" t="t" l="l"/>
              <a:pathLst>
                <a:path h="305780" w="2180184">
                  <a:moveTo>
                    <a:pt x="126448" y="0"/>
                  </a:moveTo>
                  <a:lnTo>
                    <a:pt x="2053736" y="0"/>
                  </a:lnTo>
                  <a:cubicBezTo>
                    <a:pt x="2123572" y="0"/>
                    <a:pt x="2180184" y="56613"/>
                    <a:pt x="2180184" y="126448"/>
                  </a:cubicBezTo>
                  <a:lnTo>
                    <a:pt x="2180184" y="179332"/>
                  </a:lnTo>
                  <a:cubicBezTo>
                    <a:pt x="2180184" y="212868"/>
                    <a:pt x="2166862" y="245030"/>
                    <a:pt x="2143149" y="268744"/>
                  </a:cubicBezTo>
                  <a:cubicBezTo>
                    <a:pt x="2119435" y="292458"/>
                    <a:pt x="2087272" y="305780"/>
                    <a:pt x="2053736" y="305780"/>
                  </a:cubicBezTo>
                  <a:lnTo>
                    <a:pt x="126448" y="305780"/>
                  </a:lnTo>
                  <a:cubicBezTo>
                    <a:pt x="92912" y="305780"/>
                    <a:pt x="60749" y="292458"/>
                    <a:pt x="37036" y="268744"/>
                  </a:cubicBezTo>
                  <a:cubicBezTo>
                    <a:pt x="13322" y="245030"/>
                    <a:pt x="0" y="212868"/>
                    <a:pt x="0" y="179332"/>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6" id="16"/>
            <p:cNvSpPr txBox="true"/>
            <p:nvPr/>
          </p:nvSpPr>
          <p:spPr>
            <a:xfrm>
              <a:off x="0" y="-57150"/>
              <a:ext cx="2180184" cy="362930"/>
            </a:xfrm>
            <a:prstGeom prst="rect">
              <a:avLst/>
            </a:prstGeom>
          </p:spPr>
          <p:txBody>
            <a:bodyPr anchor="ctr" rtlCol="false" tIns="37573" lIns="37573" bIns="37573" rIns="37573"/>
            <a:lstStyle/>
            <a:p>
              <a:pPr algn="ctr">
                <a:lnSpc>
                  <a:spcPts val="2799"/>
                </a:lnSpc>
              </a:pPr>
            </a:p>
            <a:p>
              <a:pPr algn="ctr">
                <a:lnSpc>
                  <a:spcPts val="2519"/>
                </a:lnSpc>
              </a:pPr>
            </a:p>
          </p:txBody>
        </p:sp>
      </p:grpSp>
      <p:sp>
        <p:nvSpPr>
          <p:cNvPr name="TextBox 17" id="17"/>
          <p:cNvSpPr txBox="true"/>
          <p:nvPr/>
        </p:nvSpPr>
        <p:spPr>
          <a:xfrm rot="0">
            <a:off x="10390318" y="5408381"/>
            <a:ext cx="7462105" cy="2630805"/>
          </a:xfrm>
          <a:prstGeom prst="rect">
            <a:avLst/>
          </a:prstGeom>
        </p:spPr>
        <p:txBody>
          <a:bodyPr anchor="t" rtlCol="false" tIns="0" lIns="0" bIns="0" rIns="0">
            <a:spAutoFit/>
          </a:bodyPr>
          <a:lstStyle/>
          <a:p>
            <a:pPr algn="l">
              <a:lnSpc>
                <a:spcPts val="2659"/>
              </a:lnSpc>
              <a:spcBef>
                <a:spcPct val="0"/>
              </a:spcBef>
            </a:pPr>
            <a:r>
              <a:rPr lang="en-US" b="true" sz="1899">
                <a:solidFill>
                  <a:srgbClr val="5E3516"/>
                </a:solidFill>
                <a:latin typeface="Work Sans Bold"/>
                <a:ea typeface="Work Sans Bold"/>
                <a:cs typeface="Work Sans Bold"/>
                <a:sym typeface="Work Sans Bold"/>
              </a:rPr>
              <a:t>W</a:t>
            </a:r>
            <a:r>
              <a:rPr lang="en-US" b="true" sz="1899">
                <a:solidFill>
                  <a:srgbClr val="5E3516"/>
                </a:solidFill>
                <a:latin typeface="Work Sans Bold"/>
                <a:ea typeface="Work Sans Bold"/>
                <a:cs typeface="Work Sans Bold"/>
                <a:sym typeface="Work Sans Bold"/>
              </a:rPr>
              <a:t>here it's used</a:t>
            </a:r>
            <a:r>
              <a:rPr lang="en-US" sz="1899">
                <a:solidFill>
                  <a:srgbClr val="000000"/>
                </a:solidFill>
                <a:latin typeface="Work Sans"/>
                <a:ea typeface="Work Sans"/>
                <a:cs typeface="Work Sans"/>
                <a:sym typeface="Work Sans"/>
              </a:rPr>
              <a:t>: runMergeSort() inside the sorting and searching functions. </a:t>
            </a:r>
          </a:p>
          <a:p>
            <a:pPr algn="l">
              <a:lnSpc>
                <a:spcPts val="2659"/>
              </a:lnSpc>
              <a:spcBef>
                <a:spcPct val="0"/>
              </a:spcBef>
            </a:pPr>
          </a:p>
          <a:p>
            <a:pPr algn="l">
              <a:lnSpc>
                <a:spcPts val="2659"/>
              </a:lnSpc>
              <a:spcBef>
                <a:spcPct val="0"/>
              </a:spcBef>
            </a:pPr>
            <a:r>
              <a:rPr lang="en-US" b="true" sz="1899">
                <a:solidFill>
                  <a:srgbClr val="5B2501"/>
                </a:solidFill>
                <a:latin typeface="Work Sans Bold"/>
                <a:ea typeface="Work Sans Bold"/>
                <a:cs typeface="Work Sans Bold"/>
                <a:sym typeface="Work Sans Bold"/>
              </a:rPr>
              <a:t>Why: </a:t>
            </a:r>
            <a:r>
              <a:rPr lang="en-US" sz="1899">
                <a:solidFill>
                  <a:srgbClr val="000000"/>
                </a:solidFill>
                <a:latin typeface="Work Sans"/>
                <a:ea typeface="Work Sans"/>
                <a:cs typeface="Work Sans"/>
                <a:sym typeface="Work Sans"/>
              </a:rPr>
              <a:t>Used to sort the entire array of books or members by different criteria (Title, Name, ID, Date). It ensures a reliable and fast O(nlogn) sorting performance.</a:t>
            </a:r>
          </a:p>
          <a:p>
            <a:pPr algn="l">
              <a:lnSpc>
                <a:spcPts val="2659"/>
              </a:lnSpc>
              <a:spcBef>
                <a:spcPct val="0"/>
              </a:spcBef>
            </a:pPr>
          </a:p>
          <a:p>
            <a:pPr algn="l">
              <a:lnSpc>
                <a:spcPts val="2379"/>
              </a:lnSpc>
              <a:spcBef>
                <a:spcPct val="0"/>
              </a:spcBef>
            </a:pPr>
          </a:p>
        </p:txBody>
      </p:sp>
      <p:sp>
        <p:nvSpPr>
          <p:cNvPr name="TextBox 18" id="18"/>
          <p:cNvSpPr txBox="true"/>
          <p:nvPr/>
        </p:nvSpPr>
        <p:spPr>
          <a:xfrm rot="0">
            <a:off x="12787080" y="4406769"/>
            <a:ext cx="2668581"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Merge Sort</a:t>
            </a:r>
          </a:p>
          <a:p>
            <a:pPr algn="l">
              <a:lnSpc>
                <a:spcPts val="2446"/>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5708" y="-1961949"/>
            <a:ext cx="8583471" cy="4712252"/>
            <a:chOff x="0" y="0"/>
            <a:chExt cx="2260667" cy="1241087"/>
          </a:xfrm>
        </p:grpSpPr>
        <p:sp>
          <p:nvSpPr>
            <p:cNvPr name="Freeform 3" id="3"/>
            <p:cNvSpPr/>
            <p:nvPr/>
          </p:nvSpPr>
          <p:spPr>
            <a:xfrm flipH="false" flipV="false" rot="0">
              <a:off x="0" y="0"/>
              <a:ext cx="2260667" cy="1241087"/>
            </a:xfrm>
            <a:custGeom>
              <a:avLst/>
              <a:gdLst/>
              <a:ahLst/>
              <a:cxnLst/>
              <a:rect r="r" b="b" t="t" l="l"/>
              <a:pathLst>
                <a:path h="1241087" w="2260667">
                  <a:moveTo>
                    <a:pt x="63137" y="0"/>
                  </a:moveTo>
                  <a:lnTo>
                    <a:pt x="2197530" y="0"/>
                  </a:lnTo>
                  <a:cubicBezTo>
                    <a:pt x="2214275" y="0"/>
                    <a:pt x="2230334" y="6652"/>
                    <a:pt x="2242175" y="18492"/>
                  </a:cubicBezTo>
                  <a:cubicBezTo>
                    <a:pt x="2254015" y="30333"/>
                    <a:pt x="2260667" y="46392"/>
                    <a:pt x="2260667" y="63137"/>
                  </a:cubicBezTo>
                  <a:lnTo>
                    <a:pt x="2260667" y="1177950"/>
                  </a:lnTo>
                  <a:cubicBezTo>
                    <a:pt x="2260667" y="1194695"/>
                    <a:pt x="2254015" y="1210754"/>
                    <a:pt x="2242175" y="1222595"/>
                  </a:cubicBezTo>
                  <a:cubicBezTo>
                    <a:pt x="2230334" y="1234435"/>
                    <a:pt x="2214275" y="1241087"/>
                    <a:pt x="2197530" y="1241087"/>
                  </a:cubicBezTo>
                  <a:lnTo>
                    <a:pt x="63137" y="1241087"/>
                  </a:lnTo>
                  <a:cubicBezTo>
                    <a:pt x="46392" y="1241087"/>
                    <a:pt x="30333" y="1234435"/>
                    <a:pt x="18492" y="1222595"/>
                  </a:cubicBezTo>
                  <a:cubicBezTo>
                    <a:pt x="6652" y="1210754"/>
                    <a:pt x="0" y="1194695"/>
                    <a:pt x="0" y="1177950"/>
                  </a:cubicBezTo>
                  <a:lnTo>
                    <a:pt x="0" y="63137"/>
                  </a:lnTo>
                  <a:cubicBezTo>
                    <a:pt x="0" y="46392"/>
                    <a:pt x="6652" y="30333"/>
                    <a:pt x="18492" y="18492"/>
                  </a:cubicBezTo>
                  <a:cubicBezTo>
                    <a:pt x="30333" y="6652"/>
                    <a:pt x="46392" y="0"/>
                    <a:pt x="63137" y="0"/>
                  </a:cubicBezTo>
                  <a:close/>
                </a:path>
              </a:pathLst>
            </a:custGeom>
            <a:solidFill>
              <a:srgbClr val="5B2501"/>
            </a:solidFill>
          </p:spPr>
        </p:sp>
        <p:sp>
          <p:nvSpPr>
            <p:cNvPr name="TextBox 4" id="4"/>
            <p:cNvSpPr txBox="true"/>
            <p:nvPr/>
          </p:nvSpPr>
          <p:spPr>
            <a:xfrm>
              <a:off x="0" y="-47625"/>
              <a:ext cx="2260667" cy="1288712"/>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3008733" y="494994"/>
            <a:ext cx="3504187" cy="332740"/>
          </a:xfrm>
          <a:prstGeom prst="rect">
            <a:avLst/>
          </a:prstGeom>
        </p:spPr>
        <p:txBody>
          <a:bodyPr anchor="t" rtlCol="false" tIns="0" lIns="0" bIns="0" rIns="0">
            <a:spAutoFit/>
          </a:bodyPr>
          <a:lstStyle/>
          <a:p>
            <a:pPr algn="r">
              <a:lnSpc>
                <a:spcPts val="2659"/>
              </a:lnSpc>
              <a:spcBef>
                <a:spcPct val="0"/>
              </a:spcBef>
            </a:pPr>
            <a:r>
              <a:rPr lang="en-US" b="true" sz="1899">
                <a:solidFill>
                  <a:srgbClr val="FFFFFF"/>
                </a:solidFill>
                <a:latin typeface="Work Sans Bold"/>
                <a:ea typeface="Work Sans Bold"/>
                <a:cs typeface="Work Sans Bold"/>
                <a:sym typeface="Work Sans Bold"/>
              </a:rPr>
              <a:t>Library Management System </a:t>
            </a:r>
          </a:p>
        </p:txBody>
      </p:sp>
      <p:sp>
        <p:nvSpPr>
          <p:cNvPr name="TextBox 7" id="7"/>
          <p:cNvSpPr txBox="true"/>
          <p:nvPr/>
        </p:nvSpPr>
        <p:spPr>
          <a:xfrm rot="0">
            <a:off x="372147" y="437844"/>
            <a:ext cx="10112023" cy="2879725"/>
          </a:xfrm>
          <a:prstGeom prst="rect">
            <a:avLst/>
          </a:prstGeom>
        </p:spPr>
        <p:txBody>
          <a:bodyPr anchor="t" rtlCol="false" tIns="0" lIns="0" bIns="0" rIns="0">
            <a:spAutoFit/>
          </a:bodyPr>
          <a:lstStyle/>
          <a:p>
            <a:pPr algn="l">
              <a:lnSpc>
                <a:spcPts val="7699"/>
              </a:lnSpc>
            </a:pPr>
            <a:r>
              <a:rPr lang="en-US" sz="5499" b="true">
                <a:solidFill>
                  <a:srgbClr val="5B2501"/>
                </a:solidFill>
                <a:latin typeface="Playfair Display Bold"/>
                <a:ea typeface="Playfair Display Bold"/>
                <a:cs typeface="Playfair Display Bold"/>
                <a:sym typeface="Playfair Display Bold"/>
              </a:rPr>
              <a:t>DSA Concepts and Their Applications</a:t>
            </a:r>
          </a:p>
          <a:p>
            <a:pPr algn="l">
              <a:lnSpc>
                <a:spcPts val="7699"/>
              </a:lnSpc>
              <a:spcBef>
                <a:spcPct val="0"/>
              </a:spcBef>
            </a:pPr>
          </a:p>
        </p:txBody>
      </p:sp>
      <p:sp>
        <p:nvSpPr>
          <p:cNvPr name="TextBox 8" id="8"/>
          <p:cNvSpPr txBox="true"/>
          <p:nvPr/>
        </p:nvSpPr>
        <p:spPr>
          <a:xfrm rot="0">
            <a:off x="372147" y="2858147"/>
            <a:ext cx="7593416" cy="880745"/>
          </a:xfrm>
          <a:prstGeom prst="rect">
            <a:avLst/>
          </a:prstGeom>
        </p:spPr>
        <p:txBody>
          <a:bodyPr anchor="t" rtlCol="false" tIns="0" lIns="0" bIns="0" rIns="0">
            <a:spAutoFit/>
          </a:bodyPr>
          <a:lstStyle/>
          <a:p>
            <a:pPr algn="l">
              <a:lnSpc>
                <a:spcPts val="2379"/>
              </a:lnSpc>
              <a:spcBef>
                <a:spcPct val="0"/>
              </a:spcBef>
            </a:pPr>
            <a:r>
              <a:rPr lang="en-US" sz="1699">
                <a:solidFill>
                  <a:srgbClr val="000000"/>
                </a:solidFill>
                <a:latin typeface="Work Sans"/>
                <a:ea typeface="Work Sans"/>
                <a:cs typeface="Work Sans"/>
                <a:sym typeface="Work Sans"/>
              </a:rPr>
              <a:t>The application is heavily driven by custom-implemented Data Structures and Algorithms to manage state efficiently. Here is where and how each concept is used in script.js:</a:t>
            </a:r>
          </a:p>
        </p:txBody>
      </p:sp>
      <p:grpSp>
        <p:nvGrpSpPr>
          <p:cNvPr name="Group 9" id="9"/>
          <p:cNvGrpSpPr/>
          <p:nvPr/>
        </p:nvGrpSpPr>
        <p:grpSpPr>
          <a:xfrm rot="0">
            <a:off x="372147" y="4240001"/>
            <a:ext cx="6122602" cy="831850"/>
            <a:chOff x="0" y="0"/>
            <a:chExt cx="2180184" cy="296212"/>
          </a:xfrm>
        </p:grpSpPr>
        <p:sp>
          <p:nvSpPr>
            <p:cNvPr name="Freeform 10" id="10"/>
            <p:cNvSpPr/>
            <p:nvPr/>
          </p:nvSpPr>
          <p:spPr>
            <a:xfrm flipH="false" flipV="false" rot="0">
              <a:off x="0" y="0"/>
              <a:ext cx="2180184" cy="296212"/>
            </a:xfrm>
            <a:custGeom>
              <a:avLst/>
              <a:gdLst/>
              <a:ahLst/>
              <a:cxnLst/>
              <a:rect r="r" b="b" t="t" l="l"/>
              <a:pathLst>
                <a:path h="296212" w="2180184">
                  <a:moveTo>
                    <a:pt x="126448" y="0"/>
                  </a:moveTo>
                  <a:lnTo>
                    <a:pt x="2053736" y="0"/>
                  </a:lnTo>
                  <a:cubicBezTo>
                    <a:pt x="2123572" y="0"/>
                    <a:pt x="2180184" y="56613"/>
                    <a:pt x="2180184" y="126448"/>
                  </a:cubicBezTo>
                  <a:lnTo>
                    <a:pt x="2180184" y="169764"/>
                  </a:lnTo>
                  <a:cubicBezTo>
                    <a:pt x="2180184" y="203300"/>
                    <a:pt x="2166862" y="235462"/>
                    <a:pt x="2143149" y="259176"/>
                  </a:cubicBezTo>
                  <a:cubicBezTo>
                    <a:pt x="2119435" y="282890"/>
                    <a:pt x="2087272" y="296212"/>
                    <a:pt x="2053736" y="296212"/>
                  </a:cubicBezTo>
                  <a:lnTo>
                    <a:pt x="126448" y="296212"/>
                  </a:lnTo>
                  <a:cubicBezTo>
                    <a:pt x="92912" y="296212"/>
                    <a:pt x="60749" y="282890"/>
                    <a:pt x="37036" y="259176"/>
                  </a:cubicBezTo>
                  <a:cubicBezTo>
                    <a:pt x="13322" y="235462"/>
                    <a:pt x="0" y="203300"/>
                    <a:pt x="0" y="169764"/>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1" id="11"/>
            <p:cNvSpPr txBox="true"/>
            <p:nvPr/>
          </p:nvSpPr>
          <p:spPr>
            <a:xfrm>
              <a:off x="0" y="-57150"/>
              <a:ext cx="2180184" cy="353362"/>
            </a:xfrm>
            <a:prstGeom prst="rect">
              <a:avLst/>
            </a:prstGeom>
          </p:spPr>
          <p:txBody>
            <a:bodyPr anchor="ctr" rtlCol="false" tIns="37573" lIns="37573" bIns="37573" rIns="37573"/>
            <a:lstStyle/>
            <a:p>
              <a:pPr algn="ctr">
                <a:lnSpc>
                  <a:spcPts val="2519"/>
                </a:lnSpc>
              </a:pPr>
            </a:p>
            <a:p>
              <a:pPr algn="ctr">
                <a:lnSpc>
                  <a:spcPts val="2519"/>
                </a:lnSpc>
              </a:pPr>
            </a:p>
          </p:txBody>
        </p:sp>
      </p:grpSp>
      <p:sp>
        <p:nvSpPr>
          <p:cNvPr name="TextBox 12" id="12"/>
          <p:cNvSpPr txBox="true"/>
          <p:nvPr/>
        </p:nvSpPr>
        <p:spPr>
          <a:xfrm rot="0">
            <a:off x="503458" y="5529051"/>
            <a:ext cx="7462105" cy="3964305"/>
          </a:xfrm>
          <a:prstGeom prst="rect">
            <a:avLst/>
          </a:prstGeom>
        </p:spPr>
        <p:txBody>
          <a:bodyPr anchor="t" rtlCol="false" tIns="0" lIns="0" bIns="0" rIns="0">
            <a:spAutoFit/>
          </a:bodyPr>
          <a:lstStyle/>
          <a:p>
            <a:pPr algn="l">
              <a:lnSpc>
                <a:spcPts val="2659"/>
              </a:lnSpc>
              <a:spcBef>
                <a:spcPct val="0"/>
              </a:spcBef>
            </a:pPr>
            <a:r>
              <a:rPr lang="en-US" b="true" sz="1899">
                <a:solidFill>
                  <a:srgbClr val="5E3516"/>
                </a:solidFill>
                <a:latin typeface="Work Sans Bold"/>
                <a:ea typeface="Work Sans Bold"/>
                <a:cs typeface="Work Sans Bold"/>
                <a:sym typeface="Work Sans Bold"/>
              </a:rPr>
              <a:t>W</a:t>
            </a:r>
            <a:r>
              <a:rPr lang="en-US" b="true" sz="1899">
                <a:solidFill>
                  <a:srgbClr val="5E3516"/>
                </a:solidFill>
                <a:latin typeface="Work Sans Bold"/>
                <a:ea typeface="Work Sans Bold"/>
                <a:cs typeface="Work Sans Bold"/>
                <a:sym typeface="Work Sans Bold"/>
              </a:rPr>
              <a:t>here it's used</a:t>
            </a:r>
            <a:r>
              <a:rPr lang="en-US" sz="1899">
                <a:solidFill>
                  <a:srgbClr val="000000"/>
                </a:solidFill>
                <a:latin typeface="Work Sans"/>
                <a:ea typeface="Work Sans"/>
                <a:cs typeface="Work Sans"/>
                <a:sym typeface="Work Sans"/>
              </a:rPr>
              <a:t>: runBinarySearch() and runMemberBinarySearch().</a:t>
            </a:r>
          </a:p>
          <a:p>
            <a:pPr algn="l">
              <a:lnSpc>
                <a:spcPts val="2659"/>
              </a:lnSpc>
              <a:spcBef>
                <a:spcPct val="0"/>
              </a:spcBef>
            </a:pPr>
          </a:p>
          <a:p>
            <a:pPr algn="l">
              <a:lnSpc>
                <a:spcPts val="2659"/>
              </a:lnSpc>
              <a:spcBef>
                <a:spcPct val="0"/>
              </a:spcBef>
            </a:pPr>
          </a:p>
          <a:p>
            <a:pPr algn="l">
              <a:lnSpc>
                <a:spcPts val="2659"/>
              </a:lnSpc>
              <a:spcBef>
                <a:spcPct val="0"/>
              </a:spcBef>
            </a:pPr>
            <a:r>
              <a:rPr lang="en-US" b="true" sz="1899">
                <a:solidFill>
                  <a:srgbClr val="5B2501"/>
                </a:solidFill>
                <a:latin typeface="Work Sans Bold"/>
                <a:ea typeface="Work Sans Bold"/>
                <a:cs typeface="Work Sans Bold"/>
                <a:sym typeface="Work Sans Bold"/>
              </a:rPr>
              <a:t>Why:</a:t>
            </a:r>
            <a:r>
              <a:rPr lang="en-US" sz="1899">
                <a:solidFill>
                  <a:srgbClr val="000000"/>
                </a:solidFill>
                <a:latin typeface="Work Sans"/>
                <a:ea typeface="Work Sans"/>
                <a:cs typeface="Work Sans"/>
                <a:sym typeface="Work Sans"/>
              </a:rPr>
              <a:t> U</a:t>
            </a:r>
            <a:r>
              <a:rPr lang="en-US" sz="1899">
                <a:solidFill>
                  <a:srgbClr val="000000"/>
                </a:solidFill>
                <a:latin typeface="Work Sans"/>
                <a:ea typeface="Work Sans"/>
                <a:cs typeface="Work Sans"/>
                <a:sym typeface="Work Sans"/>
              </a:rPr>
              <a:t>sed when you search for a specific book title or member name in the UI. The system first sorts the lists using Merge Sort, and then applies Binary Search to find the exact match in O(logn) time, which is vastly more efficient than a linear search on a large catalog.</a:t>
            </a:r>
          </a:p>
          <a:p>
            <a:pPr algn="l">
              <a:lnSpc>
                <a:spcPts val="2659"/>
              </a:lnSpc>
              <a:spcBef>
                <a:spcPct val="0"/>
              </a:spcBef>
            </a:pPr>
          </a:p>
          <a:p>
            <a:pPr algn="l">
              <a:lnSpc>
                <a:spcPts val="2659"/>
              </a:lnSpc>
              <a:spcBef>
                <a:spcPct val="0"/>
              </a:spcBef>
            </a:pPr>
          </a:p>
          <a:p>
            <a:pPr algn="l">
              <a:lnSpc>
                <a:spcPts val="2379"/>
              </a:lnSpc>
              <a:spcBef>
                <a:spcPct val="0"/>
              </a:spcBef>
            </a:pPr>
          </a:p>
        </p:txBody>
      </p:sp>
      <p:sp>
        <p:nvSpPr>
          <p:cNvPr name="TextBox 13" id="13"/>
          <p:cNvSpPr txBox="true"/>
          <p:nvPr/>
        </p:nvSpPr>
        <p:spPr>
          <a:xfrm rot="0">
            <a:off x="2628777" y="4406769"/>
            <a:ext cx="2344682"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Binary Search</a:t>
            </a:r>
          </a:p>
          <a:p>
            <a:pPr algn="l">
              <a:lnSpc>
                <a:spcPts val="2446"/>
              </a:lnSpc>
              <a:spcBef>
                <a:spcPct val="0"/>
              </a:spcBef>
            </a:pPr>
          </a:p>
        </p:txBody>
      </p:sp>
      <p:sp>
        <p:nvSpPr>
          <p:cNvPr name="TextBox 14" id="14"/>
          <p:cNvSpPr txBox="true"/>
          <p:nvPr/>
        </p:nvSpPr>
        <p:spPr>
          <a:xfrm rot="0">
            <a:off x="12392198" y="4406769"/>
            <a:ext cx="2118843" cy="665081"/>
          </a:xfrm>
          <a:prstGeom prst="rect">
            <a:avLst/>
          </a:prstGeom>
        </p:spPr>
        <p:txBody>
          <a:bodyPr anchor="t" rtlCol="false" tIns="0" lIns="0" bIns="0" rIns="0">
            <a:spAutoFit/>
          </a:bodyPr>
          <a:lstStyle/>
          <a:p>
            <a:pPr algn="l">
              <a:lnSpc>
                <a:spcPts val="2878"/>
              </a:lnSpc>
            </a:pPr>
            <a:r>
              <a:rPr lang="en-US" sz="2055" b="true">
                <a:solidFill>
                  <a:srgbClr val="FFFFFF"/>
                </a:solidFill>
                <a:latin typeface="Work Sans Bold"/>
                <a:ea typeface="Work Sans Bold"/>
                <a:cs typeface="Work Sans Bold"/>
                <a:sym typeface="Work Sans Bold"/>
              </a:rPr>
              <a:t>Linked Lists</a:t>
            </a:r>
          </a:p>
          <a:p>
            <a:pPr algn="l">
              <a:lnSpc>
                <a:spcPts val="2446"/>
              </a:lnSpc>
              <a:spcBef>
                <a:spcPct val="0"/>
              </a:spcBef>
            </a:pPr>
          </a:p>
        </p:txBody>
      </p:sp>
      <p:graphicFrame>
        <p:nvGraphicFramePr>
          <p:cNvPr name="Table 15" id="15"/>
          <p:cNvGraphicFramePr>
            <a:graphicFrameLocks noGrp="true"/>
          </p:cNvGraphicFramePr>
          <p:nvPr/>
        </p:nvGraphicFramePr>
        <p:xfrm>
          <a:off x="9611308" y="4454394"/>
          <a:ext cx="7680623" cy="5456503"/>
        </p:xfrm>
        <a:graphic>
          <a:graphicData uri="http://schemas.openxmlformats.org/drawingml/2006/table">
            <a:tbl>
              <a:tblPr/>
              <a:tblGrid>
                <a:gridCol w="2889424"/>
                <a:gridCol w="4791199"/>
              </a:tblGrid>
              <a:tr h="1091301">
                <a:tc>
                  <a:txBody>
                    <a:bodyPr anchor="t" rtlCol="false"/>
                    <a:lstStyle/>
                    <a:p>
                      <a:pPr algn="ctr">
                        <a:lnSpc>
                          <a:spcPts val="2940"/>
                        </a:lnSpc>
                        <a:defRPr/>
                      </a:pPr>
                      <a:r>
                        <a:rPr lang="en-US" sz="2100" b="true">
                          <a:solidFill>
                            <a:srgbClr val="000000"/>
                          </a:solidFill>
                          <a:latin typeface="Work Sans Bold"/>
                          <a:ea typeface="Work Sans Bold"/>
                          <a:cs typeface="Work Sans Bold"/>
                          <a:sym typeface="Work Sans Bold"/>
                        </a:rPr>
                        <a:t>FRONTEND</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Work Sans"/>
                          <a:ea typeface="Work Sans"/>
                          <a:cs typeface="Work Sans"/>
                          <a:sym typeface="Work Sans"/>
                        </a:rPr>
                        <a:t>HTMLS</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r>
              <a:tr h="1035427">
                <a:tc>
                  <a:txBody>
                    <a:bodyPr anchor="t" rtlCol="false"/>
                    <a:lstStyle/>
                    <a:p>
                      <a:pPr algn="ctr">
                        <a:lnSpc>
                          <a:spcPts val="2940"/>
                        </a:lnSpc>
                        <a:defRPr/>
                      </a:pPr>
                      <a:r>
                        <a:rPr lang="en-US" sz="2100" b="true">
                          <a:solidFill>
                            <a:srgbClr val="000000"/>
                          </a:solidFill>
                          <a:latin typeface="Work Sans Bold"/>
                          <a:ea typeface="Work Sans Bold"/>
                          <a:cs typeface="Work Sans Bold"/>
                          <a:sym typeface="Work Sans Bold"/>
                        </a:rPr>
                        <a:t>STYLING</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Work Sans"/>
                          <a:ea typeface="Work Sans"/>
                          <a:cs typeface="Work Sans"/>
                          <a:sym typeface="Work Sans"/>
                        </a:rPr>
                        <a:t>CSS</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r>
              <a:tr h="1107249">
                <a:tc>
                  <a:txBody>
                    <a:bodyPr anchor="t" rtlCol="false"/>
                    <a:lstStyle/>
                    <a:p>
                      <a:pPr algn="ctr">
                        <a:lnSpc>
                          <a:spcPts val="2940"/>
                        </a:lnSpc>
                        <a:defRPr/>
                      </a:pPr>
                      <a:r>
                        <a:rPr lang="en-US" sz="2100" b="true">
                          <a:solidFill>
                            <a:srgbClr val="000000"/>
                          </a:solidFill>
                          <a:latin typeface="Work Sans Bold"/>
                          <a:ea typeface="Work Sans Bold"/>
                          <a:cs typeface="Work Sans Bold"/>
                          <a:sym typeface="Work Sans Bold"/>
                        </a:rPr>
                        <a:t>LOGICAL</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Work Sans"/>
                          <a:ea typeface="Work Sans"/>
                          <a:cs typeface="Work Sans"/>
                          <a:sym typeface="Work Sans"/>
                        </a:rPr>
                        <a:t>JavaScript</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r>
              <a:tr h="1131226">
                <a:tc>
                  <a:txBody>
                    <a:bodyPr anchor="t" rtlCol="false"/>
                    <a:lstStyle/>
                    <a:p>
                      <a:pPr algn="ctr">
                        <a:lnSpc>
                          <a:spcPts val="2940"/>
                        </a:lnSpc>
                        <a:defRPr/>
                      </a:pPr>
                      <a:r>
                        <a:rPr lang="en-US" sz="2100" b="true">
                          <a:solidFill>
                            <a:srgbClr val="000000"/>
                          </a:solidFill>
                          <a:latin typeface="Work Sans Bold"/>
                          <a:ea typeface="Work Sans Bold"/>
                          <a:cs typeface="Work Sans Bold"/>
                          <a:sym typeface="Work Sans Bold"/>
                        </a:rPr>
                        <a:t>DATABASE</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Work Sans"/>
                          <a:ea typeface="Work Sans"/>
                          <a:cs typeface="Work Sans"/>
                          <a:sym typeface="Work Sans"/>
                        </a:rPr>
                        <a:t>Local Storage</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r>
              <a:tr h="1091301">
                <a:tc>
                  <a:txBody>
                    <a:bodyPr anchor="t" rtlCol="false"/>
                    <a:lstStyle/>
                    <a:p>
                      <a:pPr algn="ctr">
                        <a:lnSpc>
                          <a:spcPts val="2940"/>
                        </a:lnSpc>
                        <a:defRPr/>
                      </a:pPr>
                      <a:r>
                        <a:rPr lang="en-US" sz="2100" b="true">
                          <a:solidFill>
                            <a:srgbClr val="000000"/>
                          </a:solidFill>
                          <a:latin typeface="Work Sans Bold"/>
                          <a:ea typeface="Work Sans Bold"/>
                          <a:cs typeface="Work Sans Bold"/>
                          <a:sym typeface="Work Sans Bold"/>
                        </a:rPr>
                        <a:t>EDITOR</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c>
                  <a:txBody>
                    <a:bodyPr anchor="t" rtlCol="false"/>
                    <a:lstStyle/>
                    <a:p>
                      <a:pPr algn="ctr">
                        <a:lnSpc>
                          <a:spcPts val="2940"/>
                        </a:lnSpc>
                        <a:defRPr/>
                      </a:pPr>
                      <a:r>
                        <a:rPr lang="en-US" sz="2100">
                          <a:solidFill>
                            <a:srgbClr val="000000"/>
                          </a:solidFill>
                          <a:latin typeface="Work Sans"/>
                          <a:ea typeface="Work Sans"/>
                          <a:cs typeface="Work Sans"/>
                          <a:sym typeface="Work Sans"/>
                        </a:rPr>
                        <a:t>VS Code</a:t>
                      </a:r>
                      <a:endParaRPr lang="en-US" sz="1100"/>
                    </a:p>
                  </a:txBody>
                  <a:tcPr marL="202468" marR="202468" marT="202468" marB="202468" anchor="ctr">
                    <a:lnL cmpd="sng" algn="ctr" cap="flat" w="40494">
                      <a:solidFill>
                        <a:srgbClr val="000000"/>
                      </a:solidFill>
                      <a:prstDash val="solid"/>
                      <a:round/>
                      <a:headEnd type="none" w="med" len="med"/>
                      <a:tailEnd type="none" w="med" len="med"/>
                    </a:lnL>
                    <a:lnR cmpd="sng" algn="ctr" cap="flat" w="40494">
                      <a:solidFill>
                        <a:srgbClr val="000000"/>
                      </a:solidFill>
                      <a:prstDash val="solid"/>
                      <a:round/>
                      <a:headEnd type="none" w="med" len="med"/>
                      <a:tailEnd type="none" w="med" len="med"/>
                    </a:lnR>
                    <a:lnT cmpd="sng" algn="ctr" cap="flat" w="40494">
                      <a:solidFill>
                        <a:srgbClr val="000000"/>
                      </a:solidFill>
                      <a:prstDash val="solid"/>
                      <a:round/>
                      <a:headEnd type="none" w="med" len="med"/>
                      <a:tailEnd type="none" w="med" len="med"/>
                    </a:lnT>
                    <a:lnB cmpd="sng" algn="ctr" cap="flat" w="40494">
                      <a:solidFill>
                        <a:srgbClr val="000000"/>
                      </a:solidFill>
                      <a:prstDash val="solid"/>
                      <a:round/>
                      <a:headEnd type="none" w="med" len="med"/>
                      <a:tailEnd type="none" w="med" len="med"/>
                    </a:lnB>
                  </a:tcPr>
                </a:tc>
              </a:tr>
            </a:tbl>
          </a:graphicData>
        </a:graphic>
      </p:graphicFrame>
      <p:grpSp>
        <p:nvGrpSpPr>
          <p:cNvPr name="Group 16" id="16"/>
          <p:cNvGrpSpPr/>
          <p:nvPr/>
        </p:nvGrpSpPr>
        <p:grpSpPr>
          <a:xfrm rot="0">
            <a:off x="10166357" y="3032713"/>
            <a:ext cx="6122602" cy="831850"/>
            <a:chOff x="0" y="0"/>
            <a:chExt cx="2180184" cy="296212"/>
          </a:xfrm>
        </p:grpSpPr>
        <p:sp>
          <p:nvSpPr>
            <p:cNvPr name="Freeform 17" id="17"/>
            <p:cNvSpPr/>
            <p:nvPr/>
          </p:nvSpPr>
          <p:spPr>
            <a:xfrm flipH="false" flipV="false" rot="0">
              <a:off x="0" y="0"/>
              <a:ext cx="2180184" cy="296212"/>
            </a:xfrm>
            <a:custGeom>
              <a:avLst/>
              <a:gdLst/>
              <a:ahLst/>
              <a:cxnLst/>
              <a:rect r="r" b="b" t="t" l="l"/>
              <a:pathLst>
                <a:path h="296212" w="2180184">
                  <a:moveTo>
                    <a:pt x="126448" y="0"/>
                  </a:moveTo>
                  <a:lnTo>
                    <a:pt x="2053736" y="0"/>
                  </a:lnTo>
                  <a:cubicBezTo>
                    <a:pt x="2123572" y="0"/>
                    <a:pt x="2180184" y="56613"/>
                    <a:pt x="2180184" y="126448"/>
                  </a:cubicBezTo>
                  <a:lnTo>
                    <a:pt x="2180184" y="169764"/>
                  </a:lnTo>
                  <a:cubicBezTo>
                    <a:pt x="2180184" y="203300"/>
                    <a:pt x="2166862" y="235462"/>
                    <a:pt x="2143149" y="259176"/>
                  </a:cubicBezTo>
                  <a:cubicBezTo>
                    <a:pt x="2119435" y="282890"/>
                    <a:pt x="2087272" y="296212"/>
                    <a:pt x="2053736" y="296212"/>
                  </a:cubicBezTo>
                  <a:lnTo>
                    <a:pt x="126448" y="296212"/>
                  </a:lnTo>
                  <a:cubicBezTo>
                    <a:pt x="92912" y="296212"/>
                    <a:pt x="60749" y="282890"/>
                    <a:pt x="37036" y="259176"/>
                  </a:cubicBezTo>
                  <a:cubicBezTo>
                    <a:pt x="13322" y="235462"/>
                    <a:pt x="0" y="203300"/>
                    <a:pt x="0" y="169764"/>
                  </a:cubicBezTo>
                  <a:lnTo>
                    <a:pt x="0" y="126448"/>
                  </a:lnTo>
                  <a:cubicBezTo>
                    <a:pt x="0" y="92912"/>
                    <a:pt x="13322" y="60749"/>
                    <a:pt x="37036" y="37036"/>
                  </a:cubicBezTo>
                  <a:cubicBezTo>
                    <a:pt x="60749" y="13322"/>
                    <a:pt x="92912" y="0"/>
                    <a:pt x="126448" y="0"/>
                  </a:cubicBezTo>
                  <a:close/>
                </a:path>
              </a:pathLst>
            </a:custGeom>
            <a:solidFill>
              <a:srgbClr val="5B2501"/>
            </a:solidFill>
            <a:ln cap="rnd">
              <a:noFill/>
              <a:prstDash val="solid"/>
              <a:round/>
            </a:ln>
          </p:spPr>
        </p:sp>
        <p:sp>
          <p:nvSpPr>
            <p:cNvPr name="TextBox 18" id="18"/>
            <p:cNvSpPr txBox="true"/>
            <p:nvPr/>
          </p:nvSpPr>
          <p:spPr>
            <a:xfrm>
              <a:off x="0" y="-57150"/>
              <a:ext cx="2180184" cy="353362"/>
            </a:xfrm>
            <a:prstGeom prst="rect">
              <a:avLst/>
            </a:prstGeom>
          </p:spPr>
          <p:txBody>
            <a:bodyPr anchor="ctr" rtlCol="false" tIns="37573" lIns="37573" bIns="37573" rIns="37573"/>
            <a:lstStyle/>
            <a:p>
              <a:pPr algn="ctr">
                <a:lnSpc>
                  <a:spcPts val="2519"/>
                </a:lnSpc>
              </a:pPr>
            </a:p>
            <a:p>
              <a:pPr algn="ctr">
                <a:lnSpc>
                  <a:spcPts val="2519"/>
                </a:lnSpc>
              </a:pPr>
            </a:p>
          </p:txBody>
        </p:sp>
      </p:grpSp>
      <p:sp>
        <p:nvSpPr>
          <p:cNvPr name="TextBox 19" id="19"/>
          <p:cNvSpPr txBox="true"/>
          <p:nvPr/>
        </p:nvSpPr>
        <p:spPr>
          <a:xfrm rot="0">
            <a:off x="11836392" y="3245996"/>
            <a:ext cx="2344682" cy="357659"/>
          </a:xfrm>
          <a:prstGeom prst="rect">
            <a:avLst/>
          </a:prstGeom>
        </p:spPr>
        <p:txBody>
          <a:bodyPr anchor="t" rtlCol="false" tIns="0" lIns="0" bIns="0" rIns="0">
            <a:spAutoFit/>
          </a:bodyPr>
          <a:lstStyle/>
          <a:p>
            <a:pPr algn="l">
              <a:lnSpc>
                <a:spcPts val="2878"/>
              </a:lnSpc>
              <a:spcBef>
                <a:spcPct val="0"/>
              </a:spcBef>
            </a:pPr>
            <a:r>
              <a:rPr lang="en-US" b="true" sz="2055">
                <a:solidFill>
                  <a:srgbClr val="FFFFFF"/>
                </a:solidFill>
                <a:latin typeface="Work Sans Bold"/>
                <a:ea typeface="Work Sans Bold"/>
                <a:cs typeface="Work Sans Bold"/>
                <a:sym typeface="Work Sans Bold"/>
              </a:rPr>
              <a:t>Technology Stack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741299" y="394177"/>
            <a:ext cx="518001" cy="634523"/>
          </a:xfrm>
          <a:custGeom>
            <a:avLst/>
            <a:gdLst/>
            <a:ahLst/>
            <a:cxnLst/>
            <a:rect r="r" b="b" t="t" l="l"/>
            <a:pathLst>
              <a:path h="634523" w="518001">
                <a:moveTo>
                  <a:pt x="0" y="0"/>
                </a:moveTo>
                <a:lnTo>
                  <a:pt x="518001" y="0"/>
                </a:lnTo>
                <a:lnTo>
                  <a:pt x="518001" y="634523"/>
                </a:lnTo>
                <a:lnTo>
                  <a:pt x="0" y="6345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4325358"/>
            <a:ext cx="6302260" cy="4824731"/>
            <a:chOff x="0" y="0"/>
            <a:chExt cx="1659854" cy="1270711"/>
          </a:xfrm>
        </p:grpSpPr>
        <p:sp>
          <p:nvSpPr>
            <p:cNvPr name="Freeform 4" id="4"/>
            <p:cNvSpPr/>
            <p:nvPr/>
          </p:nvSpPr>
          <p:spPr>
            <a:xfrm flipH="false" flipV="false" rot="0">
              <a:off x="0" y="0"/>
              <a:ext cx="1659854" cy="1270711"/>
            </a:xfrm>
            <a:custGeom>
              <a:avLst/>
              <a:gdLst/>
              <a:ahLst/>
              <a:cxnLst/>
              <a:rect r="r" b="b" t="t" l="l"/>
              <a:pathLst>
                <a:path h="1270711" w="1659854">
                  <a:moveTo>
                    <a:pt x="42995" y="0"/>
                  </a:moveTo>
                  <a:lnTo>
                    <a:pt x="1616859" y="0"/>
                  </a:lnTo>
                  <a:cubicBezTo>
                    <a:pt x="1640605" y="0"/>
                    <a:pt x="1659854" y="19250"/>
                    <a:pt x="1659854" y="42995"/>
                  </a:cubicBezTo>
                  <a:lnTo>
                    <a:pt x="1659854" y="1227716"/>
                  </a:lnTo>
                  <a:cubicBezTo>
                    <a:pt x="1659854" y="1251461"/>
                    <a:pt x="1640605" y="1270711"/>
                    <a:pt x="1616859" y="1270711"/>
                  </a:cubicBezTo>
                  <a:lnTo>
                    <a:pt x="42995" y="1270711"/>
                  </a:lnTo>
                  <a:cubicBezTo>
                    <a:pt x="19250" y="1270711"/>
                    <a:pt x="0" y="1251461"/>
                    <a:pt x="0" y="1227716"/>
                  </a:cubicBezTo>
                  <a:lnTo>
                    <a:pt x="0" y="42995"/>
                  </a:lnTo>
                  <a:cubicBezTo>
                    <a:pt x="0" y="19250"/>
                    <a:pt x="19250" y="0"/>
                    <a:pt x="42995" y="0"/>
                  </a:cubicBezTo>
                  <a:close/>
                </a:path>
              </a:pathLst>
            </a:custGeom>
            <a:solidFill>
              <a:srgbClr val="FFFFFF"/>
            </a:solidFill>
            <a:ln w="19050" cap="rnd">
              <a:solidFill>
                <a:srgbClr val="5B2501"/>
              </a:solidFill>
              <a:prstDash val="solid"/>
              <a:round/>
            </a:ln>
          </p:spPr>
        </p:sp>
        <p:sp>
          <p:nvSpPr>
            <p:cNvPr name="TextBox 5" id="5"/>
            <p:cNvSpPr txBox="true"/>
            <p:nvPr/>
          </p:nvSpPr>
          <p:spPr>
            <a:xfrm>
              <a:off x="0" y="-38100"/>
              <a:ext cx="1659854" cy="1308811"/>
            </a:xfrm>
            <a:prstGeom prst="rect">
              <a:avLst/>
            </a:prstGeom>
          </p:spPr>
          <p:txBody>
            <a:bodyPr anchor="ctr" rtlCol="false" tIns="50800" lIns="50800" bIns="50800" rIns="50800"/>
            <a:lstStyle/>
            <a:p>
              <a:pPr algn="ctr">
                <a:lnSpc>
                  <a:spcPts val="2659"/>
                </a:lnSpc>
              </a:pPr>
              <a:r>
                <a:rPr lang="en-US" sz="1899">
                  <a:solidFill>
                    <a:srgbClr val="FFFFFF"/>
                  </a:solidFill>
                  <a:latin typeface="Canva Sans"/>
                  <a:ea typeface="Canva Sans"/>
                  <a:cs typeface="Canva Sans"/>
                  <a:sym typeface="Canva Sans"/>
                </a:rPr>
                <a:t>It's Fast: Stays quick and reliable, even as the library grows.</a:t>
              </a:r>
            </a:p>
            <a:p>
              <a:pPr algn="ctr">
                <a:lnSpc>
                  <a:spcPts val="2659"/>
                </a:lnSpc>
              </a:pPr>
              <a:r>
                <a:rPr lang="en-US" sz="1899">
                  <a:solidFill>
                    <a:srgbClr val="FFFFFF"/>
                  </a:solidFill>
                  <a:latin typeface="Canva Sans"/>
                  <a:ea typeface="Canva Sans"/>
                  <a:cs typeface="Canva Sans"/>
                  <a:sym typeface="Canva Sans"/>
                </a:rPr>
                <a:t>The Goal: Shows how to turn coding theory into a practical, working application</a:t>
              </a:r>
            </a:p>
            <a:p>
              <a:pPr algn="ctr">
                <a:lnSpc>
                  <a:spcPts val="2659"/>
                </a:lnSpc>
              </a:pPr>
            </a:p>
          </p:txBody>
        </p:sp>
      </p:grpSp>
      <p:sp>
        <p:nvSpPr>
          <p:cNvPr name="TextBox 6" id="6"/>
          <p:cNvSpPr txBox="true"/>
          <p:nvPr/>
        </p:nvSpPr>
        <p:spPr>
          <a:xfrm rot="0">
            <a:off x="1373954" y="1520617"/>
            <a:ext cx="4904657" cy="936625"/>
          </a:xfrm>
          <a:prstGeom prst="rect">
            <a:avLst/>
          </a:prstGeom>
        </p:spPr>
        <p:txBody>
          <a:bodyPr anchor="t" rtlCol="false" tIns="0" lIns="0" bIns="0" rIns="0">
            <a:spAutoFit/>
          </a:bodyPr>
          <a:lstStyle/>
          <a:p>
            <a:pPr algn="l">
              <a:lnSpc>
                <a:spcPts val="7699"/>
              </a:lnSpc>
              <a:spcBef>
                <a:spcPct val="0"/>
              </a:spcBef>
            </a:pPr>
            <a:r>
              <a:rPr lang="en-US" sz="5499" b="true">
                <a:solidFill>
                  <a:srgbClr val="5B2501"/>
                </a:solidFill>
                <a:latin typeface="Playfair Display Bold"/>
                <a:ea typeface="Playfair Display Bold"/>
                <a:cs typeface="Playfair Display Bold"/>
                <a:sym typeface="Playfair Display Bold"/>
              </a:rPr>
              <a:t>Conclusion</a:t>
            </a:r>
          </a:p>
        </p:txBody>
      </p:sp>
      <p:sp>
        <p:nvSpPr>
          <p:cNvPr name="TextBox 7" id="7"/>
          <p:cNvSpPr txBox="true"/>
          <p:nvPr/>
        </p:nvSpPr>
        <p:spPr>
          <a:xfrm rot="0">
            <a:off x="1433993" y="2586542"/>
            <a:ext cx="5835466" cy="944880"/>
          </a:xfrm>
          <a:prstGeom prst="rect">
            <a:avLst/>
          </a:prstGeom>
        </p:spPr>
        <p:txBody>
          <a:bodyPr anchor="t" rtlCol="false" tIns="0" lIns="0" bIns="0" rIns="0">
            <a:spAutoFit/>
          </a:bodyPr>
          <a:lstStyle/>
          <a:p>
            <a:pPr algn="l">
              <a:lnSpc>
                <a:spcPts val="2519"/>
              </a:lnSpc>
              <a:spcBef>
                <a:spcPct val="0"/>
              </a:spcBef>
            </a:pPr>
            <a:r>
              <a:rPr lang="en-US" sz="1799">
                <a:solidFill>
                  <a:srgbClr val="000000"/>
                </a:solidFill>
                <a:latin typeface="Work Sans"/>
                <a:ea typeface="Work Sans"/>
                <a:cs typeface="Work Sans"/>
                <a:sym typeface="Work Sans"/>
              </a:rPr>
              <a:t>Th</a:t>
            </a:r>
            <a:r>
              <a:rPr lang="en-US" sz="1799">
                <a:solidFill>
                  <a:srgbClr val="000000"/>
                </a:solidFill>
                <a:latin typeface="Work Sans"/>
                <a:ea typeface="Work Sans"/>
                <a:cs typeface="Work Sans"/>
                <a:sym typeface="Work Sans"/>
              </a:rPr>
              <a:t>e Library Management System is a fast, JavaScript-based tool for managing a library.</a:t>
            </a:r>
          </a:p>
          <a:p>
            <a:pPr algn="l">
              <a:lnSpc>
                <a:spcPts val="2519"/>
              </a:lnSpc>
              <a:spcBef>
                <a:spcPct val="0"/>
              </a:spcBef>
            </a:pPr>
          </a:p>
        </p:txBody>
      </p:sp>
      <p:sp>
        <p:nvSpPr>
          <p:cNvPr name="TextBox 8" id="8"/>
          <p:cNvSpPr txBox="true"/>
          <p:nvPr/>
        </p:nvSpPr>
        <p:spPr>
          <a:xfrm rot="0">
            <a:off x="1557830" y="5628067"/>
            <a:ext cx="5094322" cy="13430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Uses Data Structures and Algorithms (DSA) like Hash Tables for instant searches and Linked Lists for easy record keeping.</a:t>
            </a:r>
          </a:p>
          <a:p>
            <a:pPr algn="l">
              <a:lnSpc>
                <a:spcPts val="2100"/>
              </a:lnSpc>
              <a:spcBef>
                <a:spcPct val="0"/>
              </a:spcBef>
            </a:pPr>
          </a:p>
          <a:p>
            <a:pPr algn="l">
              <a:lnSpc>
                <a:spcPts val="2100"/>
              </a:lnSpc>
              <a:spcBef>
                <a:spcPct val="0"/>
              </a:spcBef>
            </a:pPr>
          </a:p>
        </p:txBody>
      </p:sp>
      <p:sp>
        <p:nvSpPr>
          <p:cNvPr name="TextBox 9" id="9"/>
          <p:cNvSpPr txBox="true"/>
          <p:nvPr/>
        </p:nvSpPr>
        <p:spPr>
          <a:xfrm rot="0">
            <a:off x="1557830" y="4922644"/>
            <a:ext cx="2444615" cy="422275"/>
          </a:xfrm>
          <a:prstGeom prst="rect">
            <a:avLst/>
          </a:prstGeom>
        </p:spPr>
        <p:txBody>
          <a:bodyPr anchor="t" rtlCol="false" tIns="0" lIns="0" bIns="0" rIns="0">
            <a:spAutoFit/>
          </a:bodyPr>
          <a:lstStyle/>
          <a:p>
            <a:pPr algn="l">
              <a:lnSpc>
                <a:spcPts val="3499"/>
              </a:lnSpc>
              <a:spcBef>
                <a:spcPct val="0"/>
              </a:spcBef>
            </a:pPr>
            <a:r>
              <a:rPr lang="en-US" sz="2499" b="true">
                <a:solidFill>
                  <a:srgbClr val="5B2501"/>
                </a:solidFill>
                <a:latin typeface="Work Sans Bold"/>
                <a:ea typeface="Work Sans Bold"/>
                <a:cs typeface="Work Sans Bold"/>
                <a:sym typeface="Work Sans Bold"/>
              </a:rPr>
              <a:t>01. Efficient </a:t>
            </a:r>
          </a:p>
        </p:txBody>
      </p:sp>
      <p:sp>
        <p:nvSpPr>
          <p:cNvPr name="TextBox 10" id="10"/>
          <p:cNvSpPr txBox="true"/>
          <p:nvPr/>
        </p:nvSpPr>
        <p:spPr>
          <a:xfrm rot="0">
            <a:off x="1557830" y="6736142"/>
            <a:ext cx="2444615" cy="422275"/>
          </a:xfrm>
          <a:prstGeom prst="rect">
            <a:avLst/>
          </a:prstGeom>
        </p:spPr>
        <p:txBody>
          <a:bodyPr anchor="t" rtlCol="false" tIns="0" lIns="0" bIns="0" rIns="0">
            <a:spAutoFit/>
          </a:bodyPr>
          <a:lstStyle/>
          <a:p>
            <a:pPr algn="l">
              <a:lnSpc>
                <a:spcPts val="3499"/>
              </a:lnSpc>
              <a:spcBef>
                <a:spcPct val="0"/>
              </a:spcBef>
            </a:pPr>
            <a:r>
              <a:rPr lang="en-US" b="true" sz="2499">
                <a:solidFill>
                  <a:srgbClr val="5B2501"/>
                </a:solidFill>
                <a:latin typeface="Work Sans Bold"/>
                <a:ea typeface="Work Sans Bold"/>
                <a:cs typeface="Work Sans Bold"/>
                <a:sym typeface="Work Sans Bold"/>
              </a:rPr>
              <a:t>02. Scalable</a:t>
            </a:r>
          </a:p>
        </p:txBody>
      </p:sp>
      <p:sp>
        <p:nvSpPr>
          <p:cNvPr name="TextBox 11" id="11"/>
          <p:cNvSpPr txBox="true"/>
          <p:nvPr/>
        </p:nvSpPr>
        <p:spPr>
          <a:xfrm rot="0">
            <a:off x="1557830" y="7291767"/>
            <a:ext cx="5094322" cy="809625"/>
          </a:xfrm>
          <a:prstGeom prst="rect">
            <a:avLst/>
          </a:prstGeom>
        </p:spPr>
        <p:txBody>
          <a:bodyPr anchor="t" rtlCol="false" tIns="0" lIns="0" bIns="0" rIns="0">
            <a:spAutoFit/>
          </a:bodyPr>
          <a:lstStyle/>
          <a:p>
            <a:pPr algn="l">
              <a:lnSpc>
                <a:spcPts val="2100"/>
              </a:lnSpc>
              <a:spcBef>
                <a:spcPct val="0"/>
              </a:spcBef>
            </a:pPr>
            <a:r>
              <a:rPr lang="en-US" sz="1500">
                <a:solidFill>
                  <a:srgbClr val="000000"/>
                </a:solidFill>
                <a:latin typeface="Work Sans"/>
                <a:ea typeface="Work Sans"/>
                <a:cs typeface="Work Sans"/>
                <a:sym typeface="Work Sans"/>
              </a:rPr>
              <a:t>Stays quick and reliable, even as the library grows.</a:t>
            </a:r>
          </a:p>
          <a:p>
            <a:pPr algn="l">
              <a:lnSpc>
                <a:spcPts val="2100"/>
              </a:lnSpc>
              <a:spcBef>
                <a:spcPct val="0"/>
              </a:spcBef>
            </a:pPr>
          </a:p>
          <a:p>
            <a:pPr algn="l">
              <a:lnSpc>
                <a:spcPts val="2100"/>
              </a:lnSpc>
              <a:spcBef>
                <a:spcPct val="0"/>
              </a:spcBef>
            </a:pPr>
          </a:p>
        </p:txBody>
      </p:sp>
      <p:grpSp>
        <p:nvGrpSpPr>
          <p:cNvPr name="Group 12" id="12"/>
          <p:cNvGrpSpPr/>
          <p:nvPr/>
        </p:nvGrpSpPr>
        <p:grpSpPr>
          <a:xfrm rot="0">
            <a:off x="8328268" y="2457242"/>
            <a:ext cx="7796990" cy="4280481"/>
            <a:chOff x="0" y="0"/>
            <a:chExt cx="2260667" cy="1241087"/>
          </a:xfrm>
        </p:grpSpPr>
        <p:sp>
          <p:nvSpPr>
            <p:cNvPr name="Freeform 13" id="13"/>
            <p:cNvSpPr/>
            <p:nvPr/>
          </p:nvSpPr>
          <p:spPr>
            <a:xfrm flipH="false" flipV="false" rot="0">
              <a:off x="0" y="0"/>
              <a:ext cx="2260667" cy="1241087"/>
            </a:xfrm>
            <a:custGeom>
              <a:avLst/>
              <a:gdLst/>
              <a:ahLst/>
              <a:cxnLst/>
              <a:rect r="r" b="b" t="t" l="l"/>
              <a:pathLst>
                <a:path h="1241087" w="2260667">
                  <a:moveTo>
                    <a:pt x="69506" y="0"/>
                  </a:moveTo>
                  <a:lnTo>
                    <a:pt x="2191162" y="0"/>
                  </a:lnTo>
                  <a:cubicBezTo>
                    <a:pt x="2229549" y="0"/>
                    <a:pt x="2260667" y="31119"/>
                    <a:pt x="2260667" y="69506"/>
                  </a:cubicBezTo>
                  <a:lnTo>
                    <a:pt x="2260667" y="1171581"/>
                  </a:lnTo>
                  <a:cubicBezTo>
                    <a:pt x="2260667" y="1209968"/>
                    <a:pt x="2229549" y="1241087"/>
                    <a:pt x="2191162" y="1241087"/>
                  </a:cubicBezTo>
                  <a:lnTo>
                    <a:pt x="69506" y="1241087"/>
                  </a:lnTo>
                  <a:cubicBezTo>
                    <a:pt x="51072" y="1241087"/>
                    <a:pt x="33393" y="1233764"/>
                    <a:pt x="20358" y="1220729"/>
                  </a:cubicBezTo>
                  <a:cubicBezTo>
                    <a:pt x="7323" y="1207694"/>
                    <a:pt x="0" y="1190015"/>
                    <a:pt x="0" y="1171581"/>
                  </a:cubicBezTo>
                  <a:lnTo>
                    <a:pt x="0" y="69506"/>
                  </a:lnTo>
                  <a:cubicBezTo>
                    <a:pt x="0" y="31119"/>
                    <a:pt x="31119" y="0"/>
                    <a:pt x="69506" y="0"/>
                  </a:cubicBezTo>
                  <a:close/>
                </a:path>
              </a:pathLst>
            </a:custGeom>
            <a:solidFill>
              <a:srgbClr val="5B2501"/>
            </a:solidFill>
          </p:spPr>
        </p:sp>
        <p:sp>
          <p:nvSpPr>
            <p:cNvPr name="TextBox 14" id="14"/>
            <p:cNvSpPr txBox="true"/>
            <p:nvPr/>
          </p:nvSpPr>
          <p:spPr>
            <a:xfrm>
              <a:off x="0" y="-47625"/>
              <a:ext cx="2260667" cy="1288712"/>
            </a:xfrm>
            <a:prstGeom prst="rect">
              <a:avLst/>
            </a:prstGeom>
          </p:spPr>
          <p:txBody>
            <a:bodyPr anchor="ctr" rtlCol="false" tIns="50800" lIns="50800" bIns="50800" rIns="50800"/>
            <a:lstStyle/>
            <a:p>
              <a:pPr algn="ctr">
                <a:lnSpc>
                  <a:spcPts val="2100"/>
                </a:lnSpc>
              </a:pPr>
              <a:r>
                <a:rPr lang="en-US" sz="1500">
                  <a:solidFill>
                    <a:srgbClr val="000000"/>
                  </a:solidFill>
                  <a:latin typeface="Work Sans"/>
                  <a:ea typeface="Work Sans"/>
                  <a:cs typeface="Work Sans"/>
                  <a:sym typeface="Work Sans"/>
                </a:rPr>
                <a:t> </a:t>
              </a:r>
            </a:p>
            <a:p>
              <a:pPr algn="ctr">
                <a:lnSpc>
                  <a:spcPts val="2100"/>
                </a:lnSpc>
              </a:pPr>
            </a:p>
            <a:p>
              <a:pPr algn="ctr">
                <a:lnSpc>
                  <a:spcPts val="2100"/>
                </a:lnSpc>
              </a:pPr>
            </a:p>
          </p:txBody>
        </p:sp>
      </p:grpSp>
      <p:sp>
        <p:nvSpPr>
          <p:cNvPr name="TextBox 15" id="15"/>
          <p:cNvSpPr txBox="true"/>
          <p:nvPr/>
        </p:nvSpPr>
        <p:spPr>
          <a:xfrm rot="0">
            <a:off x="8904887" y="2659972"/>
            <a:ext cx="6066394" cy="936625"/>
          </a:xfrm>
          <a:prstGeom prst="rect">
            <a:avLst/>
          </a:prstGeom>
        </p:spPr>
        <p:txBody>
          <a:bodyPr anchor="t" rtlCol="false" tIns="0" lIns="0" bIns="0" rIns="0">
            <a:spAutoFit/>
          </a:bodyPr>
          <a:lstStyle/>
          <a:p>
            <a:pPr algn="l">
              <a:lnSpc>
                <a:spcPts val="7699"/>
              </a:lnSpc>
              <a:spcBef>
                <a:spcPct val="0"/>
              </a:spcBef>
            </a:pPr>
            <a:r>
              <a:rPr lang="en-US" sz="5499" b="true">
                <a:solidFill>
                  <a:srgbClr val="FFFFFF"/>
                </a:solidFill>
                <a:latin typeface="Playfair Display Bold"/>
                <a:ea typeface="Playfair Display Bold"/>
                <a:cs typeface="Playfair Display Bold"/>
                <a:sym typeface="Playfair Display Bold"/>
              </a:rPr>
              <a:t>Project Outcome:</a:t>
            </a:r>
          </a:p>
        </p:txBody>
      </p:sp>
      <p:sp>
        <p:nvSpPr>
          <p:cNvPr name="TextBox 16" id="16"/>
          <p:cNvSpPr txBox="true"/>
          <p:nvPr/>
        </p:nvSpPr>
        <p:spPr>
          <a:xfrm rot="0">
            <a:off x="8868957" y="4277733"/>
            <a:ext cx="6499550" cy="2666259"/>
          </a:xfrm>
          <a:prstGeom prst="rect">
            <a:avLst/>
          </a:prstGeom>
        </p:spPr>
        <p:txBody>
          <a:bodyPr anchor="t" rtlCol="false" tIns="0" lIns="0" bIns="0" rIns="0">
            <a:spAutoFit/>
          </a:bodyPr>
          <a:lstStyle/>
          <a:p>
            <a:pPr algn="l">
              <a:lnSpc>
                <a:spcPts val="3169"/>
              </a:lnSpc>
            </a:pPr>
            <a:r>
              <a:rPr lang="en-US" sz="2264">
                <a:solidFill>
                  <a:srgbClr val="FFFFFF"/>
                </a:solidFill>
                <a:latin typeface="Work Sans"/>
                <a:ea typeface="Work Sans"/>
                <a:cs typeface="Work Sans"/>
                <a:sym typeface="Work Sans"/>
              </a:rPr>
              <a:t>The Library Management System demonstrates the practical application of Data Structures and Algorithms by providing an efficient solution for managing books, members, and library transactions.</a:t>
            </a:r>
          </a:p>
          <a:p>
            <a:pPr algn="l">
              <a:lnSpc>
                <a:spcPts val="3169"/>
              </a:lnSpc>
            </a:pPr>
          </a:p>
          <a:p>
            <a:pPr algn="l">
              <a:lnSpc>
                <a:spcPts val="2377"/>
              </a:lnSpc>
              <a:spcBef>
                <a:spcPct val="0"/>
              </a:spcBef>
            </a:pPr>
          </a:p>
        </p:txBody>
      </p:sp>
      <p:sp>
        <p:nvSpPr>
          <p:cNvPr name="TextBox 17" id="17"/>
          <p:cNvSpPr txBox="true"/>
          <p:nvPr/>
        </p:nvSpPr>
        <p:spPr>
          <a:xfrm rot="0">
            <a:off x="11786690" y="549514"/>
            <a:ext cx="4726880" cy="666115"/>
          </a:xfrm>
          <a:prstGeom prst="rect">
            <a:avLst/>
          </a:prstGeom>
        </p:spPr>
        <p:txBody>
          <a:bodyPr anchor="t" rtlCol="false" tIns="0" lIns="0" bIns="0" rIns="0">
            <a:spAutoFit/>
          </a:bodyPr>
          <a:lstStyle/>
          <a:p>
            <a:pPr algn="r">
              <a:lnSpc>
                <a:spcPts val="2659"/>
              </a:lnSpc>
              <a:spcBef>
                <a:spcPct val="0"/>
              </a:spcBef>
            </a:pPr>
            <a:r>
              <a:rPr lang="en-US" b="true" sz="1899">
                <a:solidFill>
                  <a:srgbClr val="5B2501"/>
                </a:solidFill>
                <a:latin typeface="Work Sans Bold"/>
                <a:ea typeface="Work Sans Bold"/>
                <a:cs typeface="Work Sans Bold"/>
                <a:sym typeface="Work Sans Bold"/>
              </a:rPr>
              <a:t>Libr</a:t>
            </a:r>
            <a:r>
              <a:rPr lang="en-US" b="true" sz="1899">
                <a:solidFill>
                  <a:srgbClr val="5B2501"/>
                </a:solidFill>
                <a:latin typeface="Work Sans Bold"/>
                <a:ea typeface="Work Sans Bold"/>
                <a:cs typeface="Work Sans Bold"/>
                <a:sym typeface="Work Sans Bold"/>
              </a:rPr>
              <a:t>ary Management System </a:t>
            </a:r>
          </a:p>
          <a:p>
            <a:pPr algn="r">
              <a:lnSpc>
                <a:spcPts val="265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DAHPHjLI7qY</dc:identifier>
  <dcterms:modified xsi:type="dcterms:W3CDTF">2011-08-01T06:04:30Z</dcterms:modified>
  <cp:revision>1</cp:revision>
  <dc:title>Library Management System</dc:title>
</cp:coreProperties>
</file>